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0" r:id="rId4"/>
  </p:sldMasterIdLst>
  <p:notesMasterIdLst>
    <p:notesMasterId r:id="rId20"/>
  </p:notesMasterIdLst>
  <p:handoutMasterIdLst>
    <p:handoutMasterId r:id="rId21"/>
  </p:handoutMasterIdLst>
  <p:sldIdLst>
    <p:sldId id="256" r:id="rId5"/>
    <p:sldId id="267" r:id="rId6"/>
    <p:sldId id="273" r:id="rId7"/>
    <p:sldId id="274" r:id="rId8"/>
    <p:sldId id="275" r:id="rId9"/>
    <p:sldId id="276" r:id="rId10"/>
    <p:sldId id="288" r:id="rId11"/>
    <p:sldId id="277" r:id="rId12"/>
    <p:sldId id="287" r:id="rId13"/>
    <p:sldId id="279" r:id="rId14"/>
    <p:sldId id="280" r:id="rId15"/>
    <p:sldId id="286" r:id="rId16"/>
    <p:sldId id="281" r:id="rId17"/>
    <p:sldId id="282" r:id="rId18"/>
    <p:sldId id="28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259BEA-82BC-4476-91F2-380E77DBAD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29DE9C3-2AB8-44E5-BCFE-5DD42DFC56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D7858F-6309-4F09-BEA0-6CBF97E55806}" type="datetimeFigureOut">
              <a:rPr lang="en-US" smtClean="0"/>
              <a:t>5/17/2026</a:t>
            </a:fld>
            <a:endParaRPr lang="en-US" dirty="0"/>
          </a:p>
        </p:txBody>
      </p:sp>
      <p:sp>
        <p:nvSpPr>
          <p:cNvPr id="4" name="Footer Placeholder 3">
            <a:extLst>
              <a:ext uri="{FF2B5EF4-FFF2-40B4-BE49-F238E27FC236}">
                <a16:creationId xmlns:a16="http://schemas.microsoft.com/office/drawing/2014/main" id="{5E1B971B-9BC3-41DB-91DC-F03F5C808D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4A0720E-F4E2-435B-A885-9194BA3026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F8AE00-5498-4F06-8655-F21703489BCA}" type="slidenum">
              <a:rPr lang="en-US" smtClean="0"/>
              <a:t>‹#›</a:t>
            </a:fld>
            <a:endParaRPr lang="en-US" dirty="0"/>
          </a:p>
        </p:txBody>
      </p:sp>
    </p:spTree>
    <p:extLst>
      <p:ext uri="{BB962C8B-B14F-4D97-AF65-F5344CB8AC3E}">
        <p14:creationId xmlns:p14="http://schemas.microsoft.com/office/powerpoint/2010/main" val="3773420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F53C5D-CD12-6D4C-A980-0612968271E2}" type="datetimeFigureOut">
              <a:rPr lang="en-US" smtClean="0"/>
              <a:t>5/17/2026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167F0-0840-1348-BFE4-C6298BBC0698}" type="slidenum">
              <a:rPr lang="en-US" smtClean="0"/>
              <a:t>‹#›</a:t>
            </a:fld>
            <a:endParaRPr lang="en-US" dirty="0"/>
          </a:p>
        </p:txBody>
      </p:sp>
    </p:spTree>
    <p:extLst>
      <p:ext uri="{BB962C8B-B14F-4D97-AF65-F5344CB8AC3E}">
        <p14:creationId xmlns:p14="http://schemas.microsoft.com/office/powerpoint/2010/main" val="148990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noProof="0" dirty="0"/>
          </a:p>
        </p:txBody>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sp>
        <p:nvSpPr>
          <p:cNvPr id="2" name="Title 1"/>
          <p:cNvSpPr>
            <a:spLocks noGrp="1"/>
          </p:cNvSpPr>
          <p:nvPr userDrawn="1">
            <p:ph type="ctrTitle"/>
          </p:nvPr>
        </p:nvSpPr>
        <p:spPr>
          <a:xfrm>
            <a:off x="1154955" y="2099733"/>
            <a:ext cx="8825658" cy="2677648"/>
          </a:xfrm>
        </p:spPr>
        <p:txBody>
          <a:bodyPr anchor="b"/>
          <a:lstStyle>
            <a:lvl1pPr>
              <a:defRPr sz="5400"/>
            </a:lvl1pPr>
          </a:lstStyle>
          <a:p>
            <a:r>
              <a:rPr lang="en-US" noProof="0"/>
              <a:t>Click to edit Master title style</a:t>
            </a:r>
          </a:p>
        </p:txBody>
      </p:sp>
      <p:sp>
        <p:nvSpPr>
          <p:cNvPr id="3" name="Subtitle 2"/>
          <p:cNvSpPr>
            <a:spLocks noGrp="1"/>
          </p:cNvSpPr>
          <p:nvPr userDrawn="1">
            <p:ph type="subTitle" idx="1"/>
          </p:nvPr>
        </p:nvSpPr>
        <p:spPr>
          <a:xfrm>
            <a:off x="1154955" y="4777380"/>
            <a:ext cx="8825658" cy="861420"/>
          </a:xfrm>
        </p:spPr>
        <p:txBody>
          <a:bodyPr anchor="t"/>
          <a:lstStyle>
            <a:lvl1pPr marL="0" indent="0" algn="l">
              <a:buNone/>
              <a:defRPr cap="all">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userDrawn="1">
            <p:ph type="dt" sz="half" idx="10"/>
          </p:nvPr>
        </p:nvSpPr>
        <p:spPr>
          <a:xfrm rot="5400000">
            <a:off x="10089390" y="1792223"/>
            <a:ext cx="990599" cy="304799"/>
          </a:xfrm>
        </p:spPr>
        <p:txBody>
          <a:bodyPr anchor="t"/>
          <a:lstStyle>
            <a:lvl1pPr algn="l">
              <a:defRPr b="0" i="0">
                <a:solidFill>
                  <a:schemeClr val="bg1"/>
                </a:solidFill>
              </a:defRPr>
            </a:lvl1pPr>
          </a:lstStyle>
          <a:p>
            <a:fld id="{75D0B1B9-C7DF-F64A-B488-12B3D5090923}" type="datetime1">
              <a:rPr lang="en-US" noProof="0" smtClean="0"/>
              <a:t>5/17/2026</a:t>
            </a:fld>
            <a:endParaRPr lang="en-US" noProof="0" dirty="0"/>
          </a:p>
        </p:txBody>
      </p:sp>
      <p:sp>
        <p:nvSpPr>
          <p:cNvPr id="5" name="Footer Placeholder 4"/>
          <p:cNvSpPr>
            <a:spLocks noGrp="1"/>
          </p:cNvSpPr>
          <p:nvPr userDrawn="1">
            <p:ph type="ftr" sz="quarter" idx="11"/>
          </p:nvPr>
        </p:nvSpPr>
        <p:spPr>
          <a:xfrm rot="5400000">
            <a:off x="8959592" y="3226820"/>
            <a:ext cx="3859795" cy="304801"/>
          </a:xfrm>
        </p:spPr>
        <p:txBody>
          <a:bodyPr/>
          <a:lstStyle>
            <a:lvl1pPr>
              <a:defRPr b="0" i="0">
                <a:solidFill>
                  <a:schemeClr val="bg1"/>
                </a:solidFill>
              </a:defRPr>
            </a:lvl1pPr>
          </a:lstStyle>
          <a:p>
            <a:endParaRPr lang="en-US" noProof="0" dirty="0"/>
          </a:p>
        </p:txBody>
      </p:sp>
      <p:sp>
        <p:nvSpPr>
          <p:cNvPr id="10" name="Rectangle 9"/>
          <p:cNvSpPr/>
          <p:nvPr userDrawn="1"/>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 name="Slide Number Placeholder 5"/>
          <p:cNvSpPr>
            <a:spLocks noGrp="1"/>
          </p:cNvSpPr>
          <p:nvPr userDrawn="1">
            <p:ph type="sldNum" sz="quarter" idx="12"/>
          </p:nvPr>
        </p:nvSpPr>
        <p:spPr>
          <a:xfrm>
            <a:off x="10351008" y="292608"/>
            <a:ext cx="838199" cy="767687"/>
          </a:xfrm>
        </p:spPr>
        <p:txBody>
          <a:bodyPr/>
          <a:lstStyle>
            <a:lvl1pPr>
              <a:defRPr sz="2800" b="0" i="0">
                <a:latin typeface="+mj-lt"/>
              </a:defRPr>
            </a:lvl1p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572730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06D41EE2-1449-2741-9D08-61623EFC2A0E}"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373622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noProof="0"/>
              <a:t>Click to edit Master title style</a:t>
            </a:r>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9DAF7560-49B8-714F-A7F1-D946D3E64C23}"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308194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 left">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7DD9237C-03C9-D843-906B-96D98C6B2D61}"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579578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ullets as Icons 5X Vertical">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B480622-FB8F-493B-9965-971B07D752E2}"/>
              </a:ext>
            </a:extLst>
          </p:cNvPr>
          <p:cNvSpPr>
            <a:spLocks noGrp="1"/>
          </p:cNvSpPr>
          <p:nvPr>
            <p:ph type="body" sz="quarter" idx="13" hasCustomPrompt="1"/>
          </p:nvPr>
        </p:nvSpPr>
        <p:spPr>
          <a:xfrm>
            <a:off x="6792913" y="1748812"/>
            <a:ext cx="3852000" cy="720000"/>
          </a:xfrm>
          <a:prstGeom prst="roundRect">
            <a:avLst/>
          </a:prstGeom>
          <a:solidFill>
            <a:schemeClr val="bg1">
              <a:lumMod val="95000"/>
            </a:schemeClr>
          </a:solidFill>
          <a:ln w="31750">
            <a:solidFill>
              <a:schemeClr val="accent1"/>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6" name="Text Placeholder 9">
            <a:extLst>
              <a:ext uri="{FF2B5EF4-FFF2-40B4-BE49-F238E27FC236}">
                <a16:creationId xmlns:a16="http://schemas.microsoft.com/office/drawing/2014/main" id="{2C5BC223-8B87-4685-A901-71B07847E41C}"/>
              </a:ext>
            </a:extLst>
          </p:cNvPr>
          <p:cNvSpPr>
            <a:spLocks noGrp="1"/>
          </p:cNvSpPr>
          <p:nvPr>
            <p:ph type="body" sz="quarter" idx="14" hasCustomPrompt="1"/>
          </p:nvPr>
        </p:nvSpPr>
        <p:spPr>
          <a:xfrm>
            <a:off x="6792913" y="2561156"/>
            <a:ext cx="3852000" cy="720000"/>
          </a:xfrm>
          <a:prstGeom prst="roundRect">
            <a:avLst/>
          </a:prstGeom>
          <a:solidFill>
            <a:schemeClr val="bg1">
              <a:lumMod val="95000"/>
            </a:schemeClr>
          </a:solidFill>
          <a:ln w="31750">
            <a:solidFill>
              <a:schemeClr val="accent2"/>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7" name="Text Placeholder 9">
            <a:extLst>
              <a:ext uri="{FF2B5EF4-FFF2-40B4-BE49-F238E27FC236}">
                <a16:creationId xmlns:a16="http://schemas.microsoft.com/office/drawing/2014/main" id="{1AE3DDF2-FC22-4381-9763-408FEF9648BD}"/>
              </a:ext>
            </a:extLst>
          </p:cNvPr>
          <p:cNvSpPr>
            <a:spLocks noGrp="1"/>
          </p:cNvSpPr>
          <p:nvPr>
            <p:ph type="body" sz="quarter" idx="15" hasCustomPrompt="1"/>
          </p:nvPr>
        </p:nvSpPr>
        <p:spPr>
          <a:xfrm>
            <a:off x="6792913" y="3373501"/>
            <a:ext cx="3852000" cy="720000"/>
          </a:xfrm>
          <a:prstGeom prst="roundRect">
            <a:avLst/>
          </a:prstGeom>
          <a:solidFill>
            <a:schemeClr val="bg1">
              <a:lumMod val="95000"/>
            </a:schemeClr>
          </a:solidFill>
          <a:ln w="31750">
            <a:solidFill>
              <a:schemeClr val="accent3"/>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8" name="Text Placeholder 9">
            <a:extLst>
              <a:ext uri="{FF2B5EF4-FFF2-40B4-BE49-F238E27FC236}">
                <a16:creationId xmlns:a16="http://schemas.microsoft.com/office/drawing/2014/main" id="{6170A2BF-28BF-4B27-B92D-B1423601B767}"/>
              </a:ext>
            </a:extLst>
          </p:cNvPr>
          <p:cNvSpPr>
            <a:spLocks noGrp="1"/>
          </p:cNvSpPr>
          <p:nvPr>
            <p:ph type="body" sz="quarter" idx="16" hasCustomPrompt="1"/>
          </p:nvPr>
        </p:nvSpPr>
        <p:spPr>
          <a:xfrm>
            <a:off x="6792913" y="4185846"/>
            <a:ext cx="3852000" cy="720000"/>
          </a:xfrm>
          <a:prstGeom prst="roundRect">
            <a:avLst/>
          </a:prstGeom>
          <a:solidFill>
            <a:schemeClr val="bg1">
              <a:lumMod val="95000"/>
            </a:schemeClr>
          </a:solidFill>
          <a:ln w="31750">
            <a:solidFill>
              <a:schemeClr val="accent4"/>
            </a:solidFill>
          </a:ln>
        </p:spPr>
        <p:txBody>
          <a:bodyPr anchor="ctr">
            <a:normAutofit/>
          </a:bodyPr>
          <a:lstStyle>
            <a:lvl1pPr marL="0" indent="0">
              <a:buNone/>
              <a:defRPr sz="2100">
                <a:solidFill>
                  <a:schemeClr val="tx1"/>
                </a:solidFill>
              </a:defRPr>
            </a:lvl1pPr>
          </a:lstStyle>
          <a:p>
            <a:pPr lvl="0"/>
            <a:r>
              <a:rPr lang="en-US" noProof="0"/>
              <a:t>Text Item</a:t>
            </a:r>
          </a:p>
        </p:txBody>
      </p:sp>
      <p:sp>
        <p:nvSpPr>
          <p:cNvPr id="19" name="Text Placeholder 9">
            <a:extLst>
              <a:ext uri="{FF2B5EF4-FFF2-40B4-BE49-F238E27FC236}">
                <a16:creationId xmlns:a16="http://schemas.microsoft.com/office/drawing/2014/main" id="{2DB1D08C-9D26-4EC5-B935-D6A265A2A672}"/>
              </a:ext>
            </a:extLst>
          </p:cNvPr>
          <p:cNvSpPr>
            <a:spLocks noGrp="1"/>
          </p:cNvSpPr>
          <p:nvPr>
            <p:ph type="body" sz="quarter" idx="17" hasCustomPrompt="1"/>
          </p:nvPr>
        </p:nvSpPr>
        <p:spPr>
          <a:xfrm>
            <a:off x="6792913" y="4998190"/>
            <a:ext cx="3852000" cy="720000"/>
          </a:xfrm>
          <a:prstGeom prst="roundRect">
            <a:avLst/>
          </a:prstGeom>
          <a:solidFill>
            <a:schemeClr val="bg1">
              <a:lumMod val="95000"/>
            </a:schemeClr>
          </a:solidFill>
          <a:ln w="31750">
            <a:solidFill>
              <a:schemeClr val="accent6"/>
            </a:solidFill>
          </a:ln>
        </p:spPr>
        <p:txBody>
          <a:bodyPr anchor="ctr">
            <a:normAutofit/>
          </a:bodyPr>
          <a:lstStyle>
            <a:lvl1pPr marL="0" indent="0">
              <a:buNone/>
              <a:defRPr sz="2100">
                <a:solidFill>
                  <a:schemeClr val="tx1"/>
                </a:solidFill>
              </a:defRPr>
            </a:lvl1pPr>
          </a:lstStyle>
          <a:p>
            <a:pPr lvl="0"/>
            <a:r>
              <a:rPr lang="en-US" noProof="0"/>
              <a:t>Text Item</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IN"/>
            </a:p>
          </p:txBody>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397BD2BD-1F35-9841-A6BF-76BE540EE01F}"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Picture Placeholder 13">
            <a:extLst>
              <a:ext uri="{FF2B5EF4-FFF2-40B4-BE49-F238E27FC236}">
                <a16:creationId xmlns:a16="http://schemas.microsoft.com/office/drawing/2014/main" id="{9DDAF6ED-5E16-4D29-98B7-FB80DB3AAFEC}"/>
              </a:ext>
            </a:extLst>
          </p:cNvPr>
          <p:cNvSpPr>
            <a:spLocks noGrp="1"/>
          </p:cNvSpPr>
          <p:nvPr>
            <p:ph type="pic" sz="quarter" idx="18" hasCustomPrompt="1"/>
          </p:nvPr>
        </p:nvSpPr>
        <p:spPr>
          <a:xfrm>
            <a:off x="5870575" y="1840504"/>
            <a:ext cx="536616" cy="536616"/>
          </a:xfrm>
        </p:spPr>
        <p:txBody>
          <a:bodyPr lIns="0" tIns="0" rIns="0" bIns="0" anchor="ctr">
            <a:normAutofit/>
          </a:bodyPr>
          <a:lstStyle>
            <a:lvl1pPr marL="0" indent="0" algn="ctr">
              <a:buNone/>
              <a:defRPr sz="1100" i="1"/>
            </a:lvl1pPr>
          </a:lstStyle>
          <a:p>
            <a:r>
              <a:rPr lang="en-US" noProof="0" dirty="0"/>
              <a:t>Icon</a:t>
            </a:r>
          </a:p>
        </p:txBody>
      </p:sp>
      <p:sp>
        <p:nvSpPr>
          <p:cNvPr id="21" name="Picture Placeholder 13">
            <a:extLst>
              <a:ext uri="{FF2B5EF4-FFF2-40B4-BE49-F238E27FC236}">
                <a16:creationId xmlns:a16="http://schemas.microsoft.com/office/drawing/2014/main" id="{8C305CB7-F303-430E-951A-7FC6F97062AA}"/>
              </a:ext>
            </a:extLst>
          </p:cNvPr>
          <p:cNvSpPr>
            <a:spLocks noGrp="1"/>
          </p:cNvSpPr>
          <p:nvPr>
            <p:ph type="pic" sz="quarter" idx="19" hasCustomPrompt="1"/>
          </p:nvPr>
        </p:nvSpPr>
        <p:spPr>
          <a:xfrm>
            <a:off x="5870575" y="2652849"/>
            <a:ext cx="536616" cy="536616"/>
          </a:xfrm>
        </p:spPr>
        <p:txBody>
          <a:bodyPr lIns="0" tIns="0" rIns="0" bIns="0" anchor="ctr">
            <a:normAutofit/>
          </a:bodyPr>
          <a:lstStyle>
            <a:lvl1pPr marL="0" indent="0" algn="ctr">
              <a:buNone/>
              <a:defRPr sz="1100" i="1"/>
            </a:lvl1pPr>
          </a:lstStyle>
          <a:p>
            <a:r>
              <a:rPr lang="en-US" noProof="0" dirty="0"/>
              <a:t>Icon</a:t>
            </a:r>
          </a:p>
        </p:txBody>
      </p:sp>
      <p:sp>
        <p:nvSpPr>
          <p:cNvPr id="22" name="Picture Placeholder 13">
            <a:extLst>
              <a:ext uri="{FF2B5EF4-FFF2-40B4-BE49-F238E27FC236}">
                <a16:creationId xmlns:a16="http://schemas.microsoft.com/office/drawing/2014/main" id="{84D427E5-ED69-4A46-A9B7-F4DC4466F320}"/>
              </a:ext>
            </a:extLst>
          </p:cNvPr>
          <p:cNvSpPr>
            <a:spLocks noGrp="1"/>
          </p:cNvSpPr>
          <p:nvPr>
            <p:ph type="pic" sz="quarter" idx="20" hasCustomPrompt="1"/>
          </p:nvPr>
        </p:nvSpPr>
        <p:spPr>
          <a:xfrm>
            <a:off x="5870575" y="3465194"/>
            <a:ext cx="536616" cy="536616"/>
          </a:xfrm>
        </p:spPr>
        <p:txBody>
          <a:bodyPr lIns="0" tIns="0" rIns="0" bIns="0" anchor="ctr">
            <a:normAutofit/>
          </a:bodyPr>
          <a:lstStyle>
            <a:lvl1pPr marL="0" indent="0" algn="ctr">
              <a:buNone/>
              <a:defRPr sz="1100" i="1"/>
            </a:lvl1pPr>
          </a:lstStyle>
          <a:p>
            <a:r>
              <a:rPr lang="en-US" noProof="0" dirty="0"/>
              <a:t>Icon</a:t>
            </a:r>
          </a:p>
        </p:txBody>
      </p:sp>
      <p:sp>
        <p:nvSpPr>
          <p:cNvPr id="24" name="Picture Placeholder 13">
            <a:extLst>
              <a:ext uri="{FF2B5EF4-FFF2-40B4-BE49-F238E27FC236}">
                <a16:creationId xmlns:a16="http://schemas.microsoft.com/office/drawing/2014/main" id="{3DDA902F-61D6-4F1C-86C6-D1F5584AE8B3}"/>
              </a:ext>
            </a:extLst>
          </p:cNvPr>
          <p:cNvSpPr>
            <a:spLocks noGrp="1"/>
          </p:cNvSpPr>
          <p:nvPr>
            <p:ph type="pic" sz="quarter" idx="21" hasCustomPrompt="1"/>
          </p:nvPr>
        </p:nvSpPr>
        <p:spPr>
          <a:xfrm>
            <a:off x="5870575" y="4277539"/>
            <a:ext cx="536616" cy="536616"/>
          </a:xfrm>
        </p:spPr>
        <p:txBody>
          <a:bodyPr lIns="0" tIns="0" rIns="0" bIns="0" anchor="ctr">
            <a:normAutofit/>
          </a:bodyPr>
          <a:lstStyle>
            <a:lvl1pPr marL="0" indent="0" algn="ctr">
              <a:buNone/>
              <a:defRPr sz="1100" i="1"/>
            </a:lvl1pPr>
          </a:lstStyle>
          <a:p>
            <a:r>
              <a:rPr lang="en-US" noProof="0" dirty="0"/>
              <a:t>Icon</a:t>
            </a:r>
          </a:p>
        </p:txBody>
      </p:sp>
      <p:sp>
        <p:nvSpPr>
          <p:cNvPr id="26" name="Picture Placeholder 13">
            <a:extLst>
              <a:ext uri="{FF2B5EF4-FFF2-40B4-BE49-F238E27FC236}">
                <a16:creationId xmlns:a16="http://schemas.microsoft.com/office/drawing/2014/main" id="{D8B6871A-9C69-4437-A5AD-A0400BAF2C6D}"/>
              </a:ext>
            </a:extLst>
          </p:cNvPr>
          <p:cNvSpPr>
            <a:spLocks noGrp="1"/>
          </p:cNvSpPr>
          <p:nvPr>
            <p:ph type="pic" sz="quarter" idx="23" hasCustomPrompt="1"/>
          </p:nvPr>
        </p:nvSpPr>
        <p:spPr>
          <a:xfrm>
            <a:off x="5870575" y="5089882"/>
            <a:ext cx="536616" cy="536616"/>
          </a:xfrm>
        </p:spPr>
        <p:txBody>
          <a:bodyPr lIns="0" tIns="0" rIns="0" bIns="0" anchor="ctr">
            <a:normAutofit/>
          </a:bodyPr>
          <a:lstStyle>
            <a:lvl1pPr marL="0" indent="0" algn="ctr">
              <a:buNone/>
              <a:defRPr sz="1100" i="1"/>
            </a:lvl1pPr>
          </a:lstStyle>
          <a:p>
            <a:r>
              <a:rPr lang="en-US" noProof="0" dirty="0"/>
              <a:t>Icon</a:t>
            </a:r>
          </a:p>
        </p:txBody>
      </p:sp>
    </p:spTree>
    <p:extLst>
      <p:ext uri="{BB962C8B-B14F-4D97-AF65-F5344CB8AC3E}">
        <p14:creationId xmlns:p14="http://schemas.microsoft.com/office/powerpoint/2010/main" val="3296259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 Icon Bullets Vertical Light">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B8ACAEC3-8D8C-3848-8630-7A0DFF3F6116}"/>
              </a:ext>
            </a:extLst>
          </p:cNvPr>
          <p:cNvSpPr>
            <a:spLocks noChangeAspect="1"/>
          </p:cNvSpPr>
          <p:nvPr userDrawn="1"/>
        </p:nvSpPr>
        <p:spPr>
          <a:xfrm>
            <a:off x="8699143" y="3702940"/>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Picture Placeholder 9">
            <a:extLst>
              <a:ext uri="{FF2B5EF4-FFF2-40B4-BE49-F238E27FC236}">
                <a16:creationId xmlns:a16="http://schemas.microsoft.com/office/drawing/2014/main" id="{CC12BEA0-F502-0646-A370-7ECF194608D0}"/>
              </a:ext>
            </a:extLst>
          </p:cNvPr>
          <p:cNvSpPr>
            <a:spLocks noGrp="1"/>
          </p:cNvSpPr>
          <p:nvPr>
            <p:ph type="pic" sz="quarter" idx="24" hasCustomPrompt="1"/>
          </p:nvPr>
        </p:nvSpPr>
        <p:spPr>
          <a:xfrm>
            <a:off x="8865103" y="386983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D58C6160-632A-B540-A7E5-81F40CEC1FE7}"/>
              </a:ext>
            </a:extLst>
          </p:cNvPr>
          <p:cNvSpPr>
            <a:spLocks noChangeAspect="1"/>
          </p:cNvSpPr>
          <p:nvPr userDrawn="1"/>
        </p:nvSpPr>
        <p:spPr>
          <a:xfrm>
            <a:off x="6287247" y="370677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9">
            <a:extLst>
              <a:ext uri="{FF2B5EF4-FFF2-40B4-BE49-F238E27FC236}">
                <a16:creationId xmlns:a16="http://schemas.microsoft.com/office/drawing/2014/main" id="{EB2FEBB6-C1E0-0D47-8CCC-05EE2F756590}"/>
              </a:ext>
            </a:extLst>
          </p:cNvPr>
          <p:cNvSpPr>
            <a:spLocks noGrp="1"/>
          </p:cNvSpPr>
          <p:nvPr>
            <p:ph type="pic" sz="quarter" idx="23" hasCustomPrompt="1"/>
          </p:nvPr>
        </p:nvSpPr>
        <p:spPr>
          <a:xfrm>
            <a:off x="6452271" y="387367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7215E544-9553-AC42-B5C3-F7AE9AD6D815}"/>
              </a:ext>
            </a:extLst>
          </p:cNvPr>
          <p:cNvSpPr>
            <a:spLocks noChangeAspect="1"/>
          </p:cNvSpPr>
          <p:nvPr userDrawn="1"/>
        </p:nvSpPr>
        <p:spPr>
          <a:xfrm>
            <a:off x="8699143" y="79931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Oval 2">
            <a:extLst>
              <a:ext uri="{FF2B5EF4-FFF2-40B4-BE49-F238E27FC236}">
                <a16:creationId xmlns:a16="http://schemas.microsoft.com/office/drawing/2014/main" id="{F76E934A-C634-DF4D-992A-6E01917693AD}"/>
              </a:ext>
            </a:extLst>
          </p:cNvPr>
          <p:cNvSpPr>
            <a:spLocks noChangeAspect="1"/>
          </p:cNvSpPr>
          <p:nvPr userDrawn="1"/>
        </p:nvSpPr>
        <p:spPr>
          <a:xfrm>
            <a:off x="6289119" y="799317"/>
            <a:ext cx="1261872" cy="126187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6E94F40A-5592-5744-BFD7-61B04D70BFE7}"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2351088"/>
            <a:ext cx="2325688" cy="774700"/>
          </a:xfrm>
        </p:spPr>
        <p:txBody>
          <a:bodyPr>
            <a:norm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2351088"/>
            <a:ext cx="2325688" cy="774700"/>
          </a:xfrm>
        </p:spPr>
        <p:txBody>
          <a:bodyPr>
            <a:normAutofit/>
          </a:bodyPr>
          <a:lstStyle>
            <a:lvl1pPr marL="0" indent="0" algn="ctr">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5756275" y="5258548"/>
            <a:ext cx="2325688" cy="774700"/>
          </a:xfrm>
        </p:spPr>
        <p:txBody>
          <a:bodyPr>
            <a:normAutofit/>
          </a:bodyPr>
          <a:lstStyle>
            <a:lvl1pPr marL="0" indent="0" algn="ctr">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8167235" y="5258548"/>
            <a:ext cx="2325688" cy="774700"/>
          </a:xfrm>
        </p:spPr>
        <p:txBody>
          <a:bodyPr>
            <a:normAutofit/>
          </a:bodyPr>
          <a:lstStyle>
            <a:lvl1pPr marL="0" indent="0" algn="ctr">
              <a:buNone/>
              <a:defRPr sz="1200"/>
            </a:lvl1pPr>
          </a:lstStyle>
          <a:p>
            <a:pPr lvl="0"/>
            <a:r>
              <a:rPr lang="en-US" noProof="0"/>
              <a:t>Edit bullet description</a:t>
            </a:r>
          </a:p>
        </p:txBody>
      </p:sp>
      <p:sp>
        <p:nvSpPr>
          <p:cNvPr id="20" name="Picture Placeholder 9">
            <a:extLst>
              <a:ext uri="{FF2B5EF4-FFF2-40B4-BE49-F238E27FC236}">
                <a16:creationId xmlns:a16="http://schemas.microsoft.com/office/drawing/2014/main" id="{8E97E18E-0E31-B542-9578-D6E4DCD84680}"/>
              </a:ext>
            </a:extLst>
          </p:cNvPr>
          <p:cNvSpPr>
            <a:spLocks noGrp="1"/>
          </p:cNvSpPr>
          <p:nvPr>
            <p:ph type="pic" sz="quarter" idx="21" hasCustomPrompt="1"/>
          </p:nvPr>
        </p:nvSpPr>
        <p:spPr>
          <a:xfrm>
            <a:off x="6454143" y="96621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4" name="Picture Placeholder 9">
            <a:extLst>
              <a:ext uri="{FF2B5EF4-FFF2-40B4-BE49-F238E27FC236}">
                <a16:creationId xmlns:a16="http://schemas.microsoft.com/office/drawing/2014/main" id="{7602DDF7-46BD-6045-BDB0-45F47B0B6A9C}"/>
              </a:ext>
            </a:extLst>
          </p:cNvPr>
          <p:cNvSpPr>
            <a:spLocks noGrp="1"/>
          </p:cNvSpPr>
          <p:nvPr>
            <p:ph type="pic" sz="quarter" idx="22" hasCustomPrompt="1"/>
          </p:nvPr>
        </p:nvSpPr>
        <p:spPr>
          <a:xfrm>
            <a:off x="8865103" y="965277"/>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Tree>
    <p:extLst>
      <p:ext uri="{BB962C8B-B14F-4D97-AF65-F5344CB8AC3E}">
        <p14:creationId xmlns:p14="http://schemas.microsoft.com/office/powerpoint/2010/main" val="182046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 Icon Bullets Vertical">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86F73ED6-3B3B-5A45-912C-FCFD7D53593C}"/>
              </a:ext>
            </a:extLst>
          </p:cNvPr>
          <p:cNvSpPr>
            <a:spLocks noChangeAspect="1"/>
          </p:cNvSpPr>
          <p:nvPr userDrawn="1"/>
        </p:nvSpPr>
        <p:spPr>
          <a:xfrm>
            <a:off x="8699143" y="3702940"/>
            <a:ext cx="1261872" cy="12618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9">
            <a:extLst>
              <a:ext uri="{FF2B5EF4-FFF2-40B4-BE49-F238E27FC236}">
                <a16:creationId xmlns:a16="http://schemas.microsoft.com/office/drawing/2014/main" id="{B5971407-B12A-EE45-895D-769807DFC767}"/>
              </a:ext>
            </a:extLst>
          </p:cNvPr>
          <p:cNvSpPr>
            <a:spLocks noGrp="1"/>
          </p:cNvSpPr>
          <p:nvPr>
            <p:ph type="pic" sz="quarter" idx="24" hasCustomPrompt="1"/>
          </p:nvPr>
        </p:nvSpPr>
        <p:spPr>
          <a:xfrm>
            <a:off x="8865103" y="386983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36215321-76D7-AD41-B779-DE347C617DB3}"/>
              </a:ext>
            </a:extLst>
          </p:cNvPr>
          <p:cNvSpPr>
            <a:spLocks noChangeAspect="1"/>
          </p:cNvSpPr>
          <p:nvPr userDrawn="1"/>
        </p:nvSpPr>
        <p:spPr>
          <a:xfrm>
            <a:off x="6288183" y="3706777"/>
            <a:ext cx="1261872" cy="12618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9">
            <a:extLst>
              <a:ext uri="{FF2B5EF4-FFF2-40B4-BE49-F238E27FC236}">
                <a16:creationId xmlns:a16="http://schemas.microsoft.com/office/drawing/2014/main" id="{E61684B2-1403-BD44-80B1-6A5C0D0A3C67}"/>
              </a:ext>
            </a:extLst>
          </p:cNvPr>
          <p:cNvSpPr>
            <a:spLocks noGrp="1"/>
          </p:cNvSpPr>
          <p:nvPr>
            <p:ph type="pic" sz="quarter" idx="23" hasCustomPrompt="1"/>
          </p:nvPr>
        </p:nvSpPr>
        <p:spPr>
          <a:xfrm>
            <a:off x="6454143" y="387367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3B87B079-A5F0-D34B-90BD-17403B51EF47}"/>
              </a:ext>
            </a:extLst>
          </p:cNvPr>
          <p:cNvSpPr>
            <a:spLocks noChangeAspect="1"/>
          </p:cNvSpPr>
          <p:nvPr userDrawn="1"/>
        </p:nvSpPr>
        <p:spPr>
          <a:xfrm>
            <a:off x="8699143" y="799317"/>
            <a:ext cx="1261872" cy="1261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67169BE7-153A-034D-B3C8-A226C22DE09C}"/>
              </a:ext>
            </a:extLst>
          </p:cNvPr>
          <p:cNvSpPr>
            <a:spLocks noChangeAspect="1"/>
          </p:cNvSpPr>
          <p:nvPr userDrawn="1"/>
        </p:nvSpPr>
        <p:spPr>
          <a:xfrm>
            <a:off x="6288183" y="799317"/>
            <a:ext cx="1261872" cy="1261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9">
            <a:extLst>
              <a:ext uri="{FF2B5EF4-FFF2-40B4-BE49-F238E27FC236}">
                <a16:creationId xmlns:a16="http://schemas.microsoft.com/office/drawing/2014/main" id="{604C6493-8619-1749-A32C-8C1C4E875339}"/>
              </a:ext>
            </a:extLst>
          </p:cNvPr>
          <p:cNvSpPr>
            <a:spLocks noGrp="1"/>
          </p:cNvSpPr>
          <p:nvPr>
            <p:ph type="pic" sz="quarter" idx="21" hasCustomPrompt="1"/>
          </p:nvPr>
        </p:nvSpPr>
        <p:spPr>
          <a:xfrm>
            <a:off x="6454143" y="96621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32" name="Picture Placeholder 9">
            <a:extLst>
              <a:ext uri="{FF2B5EF4-FFF2-40B4-BE49-F238E27FC236}">
                <a16:creationId xmlns:a16="http://schemas.microsoft.com/office/drawing/2014/main" id="{EE25A905-577F-154D-BA89-4F485EEBC4BD}"/>
              </a:ext>
            </a:extLst>
          </p:cNvPr>
          <p:cNvSpPr>
            <a:spLocks noGrp="1"/>
          </p:cNvSpPr>
          <p:nvPr>
            <p:ph type="pic" sz="quarter" idx="22" hasCustomPrompt="1"/>
          </p:nvPr>
        </p:nvSpPr>
        <p:spPr>
          <a:xfrm>
            <a:off x="8865103" y="965277"/>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A177F711-7020-994E-A797-D04033A0CF12}"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2351088"/>
            <a:ext cx="2325688" cy="774700"/>
          </a:xfrm>
        </p:spPr>
        <p:txBody>
          <a:bodyPr>
            <a:norm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2351088"/>
            <a:ext cx="2325688" cy="774700"/>
          </a:xfrm>
        </p:spPr>
        <p:txBody>
          <a:bodyPr>
            <a:normAutofit/>
          </a:bodyPr>
          <a:lstStyle>
            <a:lvl1pPr marL="0" indent="0" algn="ctr">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5756275" y="5258548"/>
            <a:ext cx="2325688" cy="774700"/>
          </a:xfrm>
        </p:spPr>
        <p:txBody>
          <a:bodyPr>
            <a:normAutofit/>
          </a:bodyPr>
          <a:lstStyle>
            <a:lvl1pPr marL="0" indent="0" algn="ctr">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8167235" y="5258548"/>
            <a:ext cx="2325688" cy="774700"/>
          </a:xfrm>
        </p:spPr>
        <p:txBody>
          <a:bodyPr>
            <a:normAutofit/>
          </a:bodyPr>
          <a:lstStyle>
            <a:lvl1pPr marL="0" indent="0" algn="ctr">
              <a:buNone/>
              <a:defRPr sz="1200"/>
            </a:lvl1pPr>
          </a:lstStyle>
          <a:p>
            <a:pPr lvl="0"/>
            <a:r>
              <a:rPr lang="en-US" noProof="0"/>
              <a:t>Edit bullet description</a:t>
            </a:r>
          </a:p>
        </p:txBody>
      </p:sp>
    </p:spTree>
    <p:extLst>
      <p:ext uri="{BB962C8B-B14F-4D97-AF65-F5344CB8AC3E}">
        <p14:creationId xmlns:p14="http://schemas.microsoft.com/office/powerpoint/2010/main" val="3254131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 Icon Bullets Vertical">
    <p:spTree>
      <p:nvGrpSpPr>
        <p:cNvPr id="1" name=""/>
        <p:cNvGrpSpPr/>
        <p:nvPr/>
      </p:nvGrpSpPr>
      <p:grpSpPr>
        <a:xfrm>
          <a:off x="0" y="0"/>
          <a:ext cx="0" cy="0"/>
          <a:chOff x="0" y="0"/>
          <a:chExt cx="0" cy="0"/>
        </a:xfrm>
      </p:grpSpPr>
      <p:sp>
        <p:nvSpPr>
          <p:cNvPr id="29" name="Oval 28">
            <a:extLst>
              <a:ext uri="{FF2B5EF4-FFF2-40B4-BE49-F238E27FC236}">
                <a16:creationId xmlns:a16="http://schemas.microsoft.com/office/drawing/2014/main" id="{3B87B079-A5F0-D34B-90BD-17403B51EF47}"/>
              </a:ext>
            </a:extLst>
          </p:cNvPr>
          <p:cNvSpPr>
            <a:spLocks noChangeAspect="1"/>
          </p:cNvSpPr>
          <p:nvPr userDrawn="1"/>
        </p:nvSpPr>
        <p:spPr>
          <a:xfrm>
            <a:off x="8699143" y="2234226"/>
            <a:ext cx="1261872" cy="1261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67169BE7-153A-034D-B3C8-A226C22DE09C}"/>
              </a:ext>
            </a:extLst>
          </p:cNvPr>
          <p:cNvSpPr>
            <a:spLocks noChangeAspect="1"/>
          </p:cNvSpPr>
          <p:nvPr userDrawn="1"/>
        </p:nvSpPr>
        <p:spPr>
          <a:xfrm>
            <a:off x="6288183" y="2234226"/>
            <a:ext cx="1261872" cy="1261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9">
            <a:extLst>
              <a:ext uri="{FF2B5EF4-FFF2-40B4-BE49-F238E27FC236}">
                <a16:creationId xmlns:a16="http://schemas.microsoft.com/office/drawing/2014/main" id="{604C6493-8619-1749-A32C-8C1C4E875339}"/>
              </a:ext>
            </a:extLst>
          </p:cNvPr>
          <p:cNvSpPr>
            <a:spLocks noGrp="1"/>
          </p:cNvSpPr>
          <p:nvPr>
            <p:ph type="pic" sz="quarter" idx="21" hasCustomPrompt="1"/>
          </p:nvPr>
        </p:nvSpPr>
        <p:spPr>
          <a:xfrm>
            <a:off x="6454143" y="2401122"/>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32" name="Picture Placeholder 9">
            <a:extLst>
              <a:ext uri="{FF2B5EF4-FFF2-40B4-BE49-F238E27FC236}">
                <a16:creationId xmlns:a16="http://schemas.microsoft.com/office/drawing/2014/main" id="{EE25A905-577F-154D-BA89-4F485EEBC4BD}"/>
              </a:ext>
            </a:extLst>
          </p:cNvPr>
          <p:cNvSpPr>
            <a:spLocks noGrp="1"/>
          </p:cNvSpPr>
          <p:nvPr>
            <p:ph type="pic" sz="quarter" idx="22" hasCustomPrompt="1"/>
          </p:nvPr>
        </p:nvSpPr>
        <p:spPr>
          <a:xfrm>
            <a:off x="8865103" y="240018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A177F711-7020-994E-A797-D04033A0CF12}"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3785996"/>
            <a:ext cx="2325688" cy="1503455"/>
          </a:xfrm>
        </p:spPr>
        <p:txBody>
          <a:bodyPr>
            <a:no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3785996"/>
            <a:ext cx="2325688" cy="1503455"/>
          </a:xfrm>
        </p:spPr>
        <p:txBody>
          <a:bodyPr>
            <a:noAutofit/>
          </a:bodyPr>
          <a:lstStyle>
            <a:lvl1pPr marL="0" indent="0" algn="ctr">
              <a:buNone/>
              <a:defRPr sz="1200"/>
            </a:lvl1pPr>
          </a:lstStyle>
          <a:p>
            <a:pPr lvl="0"/>
            <a:r>
              <a:rPr lang="en-US" noProof="0"/>
              <a:t>Edit bullet description</a:t>
            </a:r>
          </a:p>
        </p:txBody>
      </p:sp>
    </p:spTree>
    <p:extLst>
      <p:ext uri="{BB962C8B-B14F-4D97-AF65-F5344CB8AC3E}">
        <p14:creationId xmlns:p14="http://schemas.microsoft.com/office/powerpoint/2010/main" val="2465061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Icon Bullets Horizontal">
    <p:spTree>
      <p:nvGrpSpPr>
        <p:cNvPr id="1" name=""/>
        <p:cNvGrpSpPr/>
        <p:nvPr/>
      </p:nvGrpSpPr>
      <p:grpSpPr>
        <a:xfrm>
          <a:off x="0" y="0"/>
          <a:ext cx="0" cy="0"/>
          <a:chOff x="0" y="0"/>
          <a:chExt cx="0" cy="0"/>
        </a:xfrm>
      </p:grpSpPr>
      <p:sp>
        <p:nvSpPr>
          <p:cNvPr id="32" name="Oval 31">
            <a:extLst>
              <a:ext uri="{FF2B5EF4-FFF2-40B4-BE49-F238E27FC236}">
                <a16:creationId xmlns:a16="http://schemas.microsoft.com/office/drawing/2014/main" id="{F625DE42-6A2A-D745-B1F8-2AF2793533BE}"/>
              </a:ext>
            </a:extLst>
          </p:cNvPr>
          <p:cNvSpPr>
            <a:spLocks noChangeAspect="1"/>
          </p:cNvSpPr>
          <p:nvPr userDrawn="1"/>
        </p:nvSpPr>
        <p:spPr>
          <a:xfrm>
            <a:off x="8404601" y="3981394"/>
            <a:ext cx="1042415" cy="104241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9">
            <a:extLst>
              <a:ext uri="{FF2B5EF4-FFF2-40B4-BE49-F238E27FC236}">
                <a16:creationId xmlns:a16="http://schemas.microsoft.com/office/drawing/2014/main" id="{A87D37E3-62A9-1F44-8520-EBED16BF1C0F}"/>
              </a:ext>
            </a:extLst>
          </p:cNvPr>
          <p:cNvSpPr>
            <a:spLocks noGrp="1"/>
          </p:cNvSpPr>
          <p:nvPr>
            <p:ph type="pic" sz="quarter" idx="24" hasCustomPrompt="1"/>
          </p:nvPr>
        </p:nvSpPr>
        <p:spPr>
          <a:xfrm>
            <a:off x="8535100" y="4123125"/>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75F8797D-AFBD-534A-AC82-DE2B7BAECE83}"/>
              </a:ext>
            </a:extLst>
          </p:cNvPr>
          <p:cNvSpPr>
            <a:spLocks noChangeAspect="1"/>
          </p:cNvSpPr>
          <p:nvPr userDrawn="1"/>
        </p:nvSpPr>
        <p:spPr>
          <a:xfrm>
            <a:off x="8404601" y="1932281"/>
            <a:ext cx="1042415" cy="104241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Picture Placeholder 9">
            <a:extLst>
              <a:ext uri="{FF2B5EF4-FFF2-40B4-BE49-F238E27FC236}">
                <a16:creationId xmlns:a16="http://schemas.microsoft.com/office/drawing/2014/main" id="{EFE809D2-16A3-B143-BC10-FEC397E62C62}"/>
              </a:ext>
            </a:extLst>
          </p:cNvPr>
          <p:cNvSpPr>
            <a:spLocks noGrp="1"/>
          </p:cNvSpPr>
          <p:nvPr>
            <p:ph type="pic" sz="quarter" idx="23" hasCustomPrompt="1"/>
          </p:nvPr>
        </p:nvSpPr>
        <p:spPr>
          <a:xfrm>
            <a:off x="8535100" y="2074012"/>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8C369370-372E-0846-B090-5E6EF97A3B62}" type="datetime1">
              <a:rPr lang="en-US" noProof="0" smtClean="0"/>
              <a:t>5/17/2026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6189670" y="1840992"/>
            <a:ext cx="2095046" cy="1225056"/>
          </a:xfrm>
        </p:spPr>
        <p:txBody>
          <a:bodyPr anchor="ctr">
            <a:noAutofit/>
          </a:bodyPr>
          <a:lstStyle>
            <a:lvl1pPr marL="0" indent="0" algn="l">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9519533" y="1840992"/>
            <a:ext cx="2095046" cy="1225056"/>
          </a:xfrm>
        </p:spPr>
        <p:txBody>
          <a:bodyPr anchor="ctr">
            <a:noAutofit/>
          </a:bodyPr>
          <a:lstStyle>
            <a:lvl1pPr marL="0" indent="0" algn="l">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6189670" y="3891529"/>
            <a:ext cx="2095046" cy="1222144"/>
          </a:xfrm>
        </p:spPr>
        <p:txBody>
          <a:bodyPr anchor="ctr">
            <a:noAutofit/>
          </a:bodyPr>
          <a:lstStyle>
            <a:lvl1pPr marL="0" indent="0" algn="l">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9519533" y="3891529"/>
            <a:ext cx="2095046" cy="1222144"/>
          </a:xfrm>
        </p:spPr>
        <p:txBody>
          <a:bodyPr anchor="ctr">
            <a:noAutofit/>
          </a:bodyPr>
          <a:lstStyle>
            <a:lvl1pPr marL="0" indent="0" algn="l">
              <a:buNone/>
              <a:defRPr sz="1200"/>
            </a:lvl1pPr>
          </a:lstStyle>
          <a:p>
            <a:pPr lvl="0"/>
            <a:r>
              <a:rPr lang="en-US" noProof="0"/>
              <a:t>Edit bullet description</a:t>
            </a:r>
          </a:p>
        </p:txBody>
      </p:sp>
      <p:sp>
        <p:nvSpPr>
          <p:cNvPr id="20" name="Oval 19">
            <a:extLst>
              <a:ext uri="{FF2B5EF4-FFF2-40B4-BE49-F238E27FC236}">
                <a16:creationId xmlns:a16="http://schemas.microsoft.com/office/drawing/2014/main" id="{73963115-25B3-494B-9A13-AC92EFE94C09}"/>
              </a:ext>
            </a:extLst>
          </p:cNvPr>
          <p:cNvSpPr>
            <a:spLocks noChangeAspect="1"/>
          </p:cNvSpPr>
          <p:nvPr userDrawn="1"/>
        </p:nvSpPr>
        <p:spPr>
          <a:xfrm>
            <a:off x="5070995" y="1932281"/>
            <a:ext cx="1042415" cy="10424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9">
            <a:extLst>
              <a:ext uri="{FF2B5EF4-FFF2-40B4-BE49-F238E27FC236}">
                <a16:creationId xmlns:a16="http://schemas.microsoft.com/office/drawing/2014/main" id="{3C759269-D6E6-2B41-8BEE-8B5AFB809B6A}"/>
              </a:ext>
            </a:extLst>
          </p:cNvPr>
          <p:cNvSpPr>
            <a:spLocks noGrp="1"/>
          </p:cNvSpPr>
          <p:nvPr>
            <p:ph type="pic" sz="quarter" idx="21" hasCustomPrompt="1"/>
          </p:nvPr>
        </p:nvSpPr>
        <p:spPr>
          <a:xfrm>
            <a:off x="5201494" y="2074012"/>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43E569D5-DC38-7C46-95CD-ACFBFBF591A2}"/>
              </a:ext>
            </a:extLst>
          </p:cNvPr>
          <p:cNvSpPr>
            <a:spLocks noChangeAspect="1"/>
          </p:cNvSpPr>
          <p:nvPr userDrawn="1"/>
        </p:nvSpPr>
        <p:spPr>
          <a:xfrm>
            <a:off x="5070995" y="3981394"/>
            <a:ext cx="1042415" cy="104241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9">
            <a:extLst>
              <a:ext uri="{FF2B5EF4-FFF2-40B4-BE49-F238E27FC236}">
                <a16:creationId xmlns:a16="http://schemas.microsoft.com/office/drawing/2014/main" id="{E8396DFD-D667-2648-9BE4-6237690F7999}"/>
              </a:ext>
            </a:extLst>
          </p:cNvPr>
          <p:cNvSpPr>
            <a:spLocks noGrp="1"/>
          </p:cNvSpPr>
          <p:nvPr>
            <p:ph type="pic" sz="quarter" idx="22" hasCustomPrompt="1"/>
          </p:nvPr>
        </p:nvSpPr>
        <p:spPr>
          <a:xfrm>
            <a:off x="5201494" y="4123125"/>
            <a:ext cx="781417" cy="758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Tree>
    <p:extLst>
      <p:ext uri="{BB962C8B-B14F-4D97-AF65-F5344CB8AC3E}">
        <p14:creationId xmlns:p14="http://schemas.microsoft.com/office/powerpoint/2010/main" val="2929901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US" noProof="0"/>
              <a:t>Click to edit Master title style</a:t>
            </a:r>
          </a:p>
        </p:txBody>
      </p:sp>
      <p:sp>
        <p:nvSpPr>
          <p:cNvPr id="22" name="Picture Placeholder 21">
            <a:extLst>
              <a:ext uri="{FF2B5EF4-FFF2-40B4-BE49-F238E27FC236}">
                <a16:creationId xmlns:a16="http://schemas.microsoft.com/office/drawing/2014/main" id="{215A5A73-8E13-4E38-8362-0A09BA944115}"/>
              </a:ext>
            </a:extLst>
          </p:cNvPr>
          <p:cNvSpPr>
            <a:spLocks noGrp="1"/>
          </p:cNvSpPr>
          <p:nvPr>
            <p:ph type="pic" idx="1"/>
          </p:nvPr>
        </p:nvSpPr>
        <p:spPr>
          <a:xfrm>
            <a:off x="6058861" y="478881"/>
            <a:ext cx="5582675" cy="5908526"/>
          </a:xfrm>
          <a:custGeom>
            <a:avLst/>
            <a:gdLst>
              <a:gd name="connsiteX0" fmla="*/ 10816 w 5582675"/>
              <a:gd name="connsiteY0" fmla="*/ 0 h 5908526"/>
              <a:gd name="connsiteX1" fmla="*/ 5582675 w 5582675"/>
              <a:gd name="connsiteY1" fmla="*/ 0 h 5908526"/>
              <a:gd name="connsiteX2" fmla="*/ 5582675 w 5582675"/>
              <a:gd name="connsiteY2" fmla="*/ 5908526 h 5908526"/>
              <a:gd name="connsiteX3" fmla="*/ 0 w 5582675"/>
              <a:gd name="connsiteY3" fmla="*/ 5908526 h 5908526"/>
              <a:gd name="connsiteX4" fmla="*/ 30693 w 5582675"/>
              <a:gd name="connsiteY4" fmla="*/ 5722836 h 5908526"/>
              <a:gd name="connsiteX5" fmla="*/ 223682 w 5582675"/>
              <a:gd name="connsiteY5" fmla="*/ 2921544 h 5908526"/>
              <a:gd name="connsiteX6" fmla="*/ 30693 w 5582675"/>
              <a:gd name="connsiteY6" fmla="*/ 120253 h 590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2675" h="5908526">
                <a:moveTo>
                  <a:pt x="10816" y="0"/>
                </a:moveTo>
                <a:lnTo>
                  <a:pt x="5582675" y="0"/>
                </a:lnTo>
                <a:lnTo>
                  <a:pt x="5582675" y="5908526"/>
                </a:lnTo>
                <a:lnTo>
                  <a:pt x="0" y="5908526"/>
                </a:lnTo>
                <a:lnTo>
                  <a:pt x="30693" y="5722836"/>
                </a:lnTo>
                <a:cubicBezTo>
                  <a:pt x="153771" y="4890115"/>
                  <a:pt x="223682" y="3935837"/>
                  <a:pt x="223682" y="2921544"/>
                </a:cubicBezTo>
                <a:cubicBezTo>
                  <a:pt x="223682" y="1907252"/>
                  <a:pt x="153771" y="952973"/>
                  <a:pt x="30693" y="120253"/>
                </a:cubicBezTo>
                <a:close/>
              </a:path>
            </a:pathLst>
          </a:custGeom>
          <a:effectLst/>
        </p:spPr>
        <p:txBody>
          <a:bodyPr wrap="square" anchor="ctr">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5/17/2026</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183431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Content Placeholder 10">
            <a:extLst>
              <a:ext uri="{FF2B5EF4-FFF2-40B4-BE49-F238E27FC236}">
                <a16:creationId xmlns:a16="http://schemas.microsoft.com/office/drawing/2014/main" id="{B50BDD93-02DA-4B21-9556-FA8B9894F903}"/>
              </a:ext>
            </a:extLst>
          </p:cNvPr>
          <p:cNvSpPr>
            <a:spLocks noGrp="1"/>
          </p:cNvSpPr>
          <p:nvPr>
            <p:ph sz="quarter" idx="13"/>
          </p:nvPr>
        </p:nvSpPr>
        <p:spPr>
          <a:xfrm>
            <a:off x="6058861" y="478880"/>
            <a:ext cx="5582675" cy="5900239"/>
          </a:xfrm>
          <a:custGeom>
            <a:avLst/>
            <a:gdLst>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0 w 5582675"/>
              <a:gd name="connsiteY4" fmla="*/ 0 h 5900239"/>
              <a:gd name="connsiteX0" fmla="*/ 3501 w 5586176"/>
              <a:gd name="connsiteY0" fmla="*/ 0 h 5900239"/>
              <a:gd name="connsiteX1" fmla="*/ 5586176 w 5586176"/>
              <a:gd name="connsiteY1" fmla="*/ 0 h 5900239"/>
              <a:gd name="connsiteX2" fmla="*/ 5586176 w 5586176"/>
              <a:gd name="connsiteY2" fmla="*/ 5900239 h 5900239"/>
              <a:gd name="connsiteX3" fmla="*/ 3501 w 5586176"/>
              <a:gd name="connsiteY3" fmla="*/ 5900239 h 5900239"/>
              <a:gd name="connsiteX4" fmla="*/ 0 w 5586176"/>
              <a:gd name="connsiteY4" fmla="*/ 3615600 h 5900239"/>
              <a:gd name="connsiteX5" fmla="*/ 3501 w 5586176"/>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0 w 5582675"/>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47299 w 5582675"/>
              <a:gd name="connsiteY5" fmla="*/ 24756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1173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5237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2675" h="5900239">
                <a:moveTo>
                  <a:pt x="0" y="0"/>
                </a:moveTo>
                <a:lnTo>
                  <a:pt x="5582675" y="0"/>
                </a:lnTo>
                <a:lnTo>
                  <a:pt x="5582675" y="5900239"/>
                </a:lnTo>
                <a:lnTo>
                  <a:pt x="0" y="5900239"/>
                </a:lnTo>
                <a:cubicBezTo>
                  <a:pt x="14285" y="5817931"/>
                  <a:pt x="34284" y="5741338"/>
                  <a:pt x="42854" y="5653315"/>
                </a:cubicBezTo>
                <a:cubicBezTo>
                  <a:pt x="145724" y="4908883"/>
                  <a:pt x="181919" y="4332092"/>
                  <a:pt x="220019" y="3442880"/>
                </a:cubicBezTo>
                <a:cubicBezTo>
                  <a:pt x="221712" y="2333747"/>
                  <a:pt x="182766" y="1285573"/>
                  <a:pt x="47299" y="247560"/>
                </a:cubicBezTo>
                <a:lnTo>
                  <a:pt x="0" y="0"/>
                </a:lnTo>
                <a:close/>
              </a:path>
            </a:pathLst>
          </a:cu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US" noProof="0"/>
              <a:t>Click to edit Master title style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5/17/2026</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397730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21B17C1C-DA5E-F743-826B-CB70C940D4E6}" type="datetime1">
              <a:rPr lang="en-US" noProof="0" smtClean="0"/>
              <a:t>5/17/2026</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77171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noProof="0"/>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E6F10E4C-E478-1D40-94DF-17D7429B053A}" type="datetime1">
              <a:rPr lang="en-US" noProof="0" smtClean="0"/>
              <a:t>5/17/2026</a:t>
            </a:fld>
            <a:endParaRPr lang="en-US" noProof="0"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95993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AC1A9061-1D22-724D-9508-7BAEAF287353}" type="datetime1">
              <a:rPr lang="en-US" noProof="0" smtClean="0"/>
              <a:t>5/17/2026</a:t>
            </a:fld>
            <a:endParaRPr lang="en-US" noProof="0"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8264808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AC1A9061-1D22-724D-9508-7BAEAF287353}" type="datetime1">
              <a:rPr lang="en-US" noProof="0" smtClean="0"/>
              <a:t>5/17/2026</a:t>
            </a:fld>
            <a:endParaRPr lang="en-US" noProof="0" dirty="0"/>
          </a:p>
        </p:txBody>
      </p:sp>
      <p:sp>
        <p:nvSpPr>
          <p:cNvPr id="4" name="Footer Placeholder 3"/>
          <p:cNvSpPr>
            <a:spLocks noGrp="1"/>
          </p:cNvSpPr>
          <p:nvPr>
            <p:ph type="ftr" sz="quarter" idx="11"/>
          </p:nvPr>
        </p:nvSpPr>
        <p:spPr/>
        <p:txBody>
          <a:bodyPr/>
          <a:lstStyle/>
          <a:p>
            <a:endParaRPr lang="en-US" noProof="0" dirty="0"/>
          </a:p>
        </p:txBody>
      </p:sp>
      <p:sp>
        <p:nvSpPr>
          <p:cNvPr id="5" name="Slide Number Placeholder 4"/>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7" name="Text Placeholder 6">
            <a:extLst>
              <a:ext uri="{FF2B5EF4-FFF2-40B4-BE49-F238E27FC236}">
                <a16:creationId xmlns:a16="http://schemas.microsoft.com/office/drawing/2014/main" id="{575C1B7F-CD73-441E-89FC-46AA9E8B519B}"/>
              </a:ext>
            </a:extLst>
          </p:cNvPr>
          <p:cNvSpPr>
            <a:spLocks noGrp="1"/>
          </p:cNvSpPr>
          <p:nvPr>
            <p:ph type="body" sz="quarter" idx="13"/>
          </p:nvPr>
        </p:nvSpPr>
        <p:spPr>
          <a:xfrm>
            <a:off x="1764150" y="2406650"/>
            <a:ext cx="8663700" cy="3477682"/>
          </a:xfrm>
        </p:spPr>
        <p:txBody>
          <a:bodyPr anchor="ctr">
            <a:normAutofit/>
          </a:bodyPr>
          <a:lstStyle>
            <a:lvl1pPr marL="0" indent="0" algn="ctr">
              <a:buNone/>
              <a:defRPr sz="6000"/>
            </a:lvl1pPr>
            <a:lvl2pPr marL="457200" indent="0">
              <a:buNone/>
              <a:defRPr/>
            </a:lvl2pPr>
          </a:lstStyle>
          <a:p>
            <a:pPr lvl="0"/>
            <a:r>
              <a:rPr lang="en-US" noProof="0"/>
              <a:t>Click to edit Master text styles</a:t>
            </a:r>
          </a:p>
        </p:txBody>
      </p:sp>
    </p:spTree>
    <p:extLst>
      <p:ext uri="{BB962C8B-B14F-4D97-AF65-F5344CB8AC3E}">
        <p14:creationId xmlns:p14="http://schemas.microsoft.com/office/powerpoint/2010/main" val="3752974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05E0F-8980-D24A-B2F9-0C7A13C6A6DE}" type="datetime1">
              <a:rPr lang="en-US" noProof="0" smtClean="0"/>
              <a:t>5/17/2026</a:t>
            </a:fld>
            <a:endParaRPr lang="en-US" noProof="0" dirty="0"/>
          </a:p>
        </p:txBody>
      </p:sp>
      <p:sp>
        <p:nvSpPr>
          <p:cNvPr id="3" name="Footer Placeholder 2"/>
          <p:cNvSpPr>
            <a:spLocks noGrp="1"/>
          </p:cNvSpPr>
          <p:nvPr>
            <p:ph type="ftr" sz="quarter" idx="11"/>
          </p:nvPr>
        </p:nvSpPr>
        <p:spPr/>
        <p:txBody>
          <a:bodyPr/>
          <a:lstStyle/>
          <a:p>
            <a:endParaRPr lang="en-US" noProof="0"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Slide Number Placeholder 3"/>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1719229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8">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IN"/>
            </a:p>
          </p:txBody>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noProof="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tx1">
                    <a:lumMod val="75000"/>
                    <a:lumOff val="25000"/>
                  </a:schemeClr>
                </a:solidFill>
              </a:defRPr>
            </a:lvl1pPr>
          </a:lstStyle>
          <a:p>
            <a:fld id="{36ACA6CA-E140-824D-8E8B-5CC5036BDBAE}" type="datetime1">
              <a:rPr lang="en-US" noProof="0" smtClean="0"/>
              <a:pPr/>
              <a:t>5/17/2026</a:t>
            </a:fld>
            <a:endParaRPr lang="en-US" noProof="0"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tx1">
                    <a:lumMod val="75000"/>
                    <a:lumOff val="25000"/>
                  </a:schemeClr>
                </a:solidFill>
                <a:latin typeface="+mn-lt"/>
              </a:defRPr>
            </a:lvl1pPr>
          </a:lstStyle>
          <a:p>
            <a:endParaRPr lang="en-US" noProof="0"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2063915332"/>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59" r:id="rId4"/>
    <p:sldLayoutId id="2147483860" r:id="rId5"/>
    <p:sldLayoutId id="2147483861" r:id="rId6"/>
    <p:sldLayoutId id="2147483862" r:id="rId7"/>
    <p:sldLayoutId id="2147483864" r:id="rId8"/>
    <p:sldLayoutId id="2147483863" r:id="rId9"/>
    <p:sldLayoutId id="2147483858" r:id="rId10"/>
    <p:sldLayoutId id="2147483865" r:id="rId11"/>
    <p:sldLayoutId id="2147483844" r:id="rId12"/>
    <p:sldLayoutId id="2147483845" r:id="rId13"/>
    <p:sldLayoutId id="2147483846" r:id="rId14"/>
    <p:sldLayoutId id="2147483866" r:id="rId15"/>
    <p:sldLayoutId id="2147483847" r:id="rId16"/>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B41E-FC51-4047-9C2D-7FA6782DAFEB}"/>
              </a:ext>
            </a:extLst>
          </p:cNvPr>
          <p:cNvSpPr>
            <a:spLocks noGrp="1"/>
          </p:cNvSpPr>
          <p:nvPr>
            <p:ph type="ctrTitle"/>
          </p:nvPr>
        </p:nvSpPr>
        <p:spPr/>
        <p:txBody>
          <a:bodyPr/>
          <a:lstStyle/>
          <a:p>
            <a:r>
              <a:rPr lang="en-US" sz="4400" b="1" dirty="0"/>
              <a:t>Consumer Preferences and Pricing Trends in Amazon Cell Phones Market: A Data-Driven Analysis</a:t>
            </a:r>
            <a:endParaRPr lang="en-US" sz="4400" b="1" dirty="0">
              <a:solidFill>
                <a:schemeClr val="bg1"/>
              </a:solidFill>
            </a:endParaRPr>
          </a:p>
        </p:txBody>
      </p:sp>
      <p:sp>
        <p:nvSpPr>
          <p:cNvPr id="3" name="Subtitle 2">
            <a:extLst>
              <a:ext uri="{FF2B5EF4-FFF2-40B4-BE49-F238E27FC236}">
                <a16:creationId xmlns:a16="http://schemas.microsoft.com/office/drawing/2014/main" id="{252E989F-747B-4007-9C7A-A35E8B662A7B}"/>
              </a:ext>
            </a:extLst>
          </p:cNvPr>
          <p:cNvSpPr>
            <a:spLocks noGrp="1"/>
          </p:cNvSpPr>
          <p:nvPr>
            <p:ph type="subTitle" idx="1"/>
          </p:nvPr>
        </p:nvSpPr>
        <p:spPr/>
        <p:txBody>
          <a:bodyPr/>
          <a:lstStyle/>
          <a:p>
            <a:endParaRPr lang="en-US" cap="none" dirty="0">
              <a:solidFill>
                <a:schemeClr val="bg1"/>
              </a:solidFill>
            </a:endParaRPr>
          </a:p>
        </p:txBody>
      </p:sp>
    </p:spTree>
    <p:extLst>
      <p:ext uri="{BB962C8B-B14F-4D97-AF65-F5344CB8AC3E}">
        <p14:creationId xmlns:p14="http://schemas.microsoft.com/office/powerpoint/2010/main" val="306700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Introduction</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2</a:t>
            </a:fld>
            <a:endParaRPr lang="en-US" dirty="0"/>
          </a:p>
        </p:txBody>
      </p:sp>
      <p:sp>
        <p:nvSpPr>
          <p:cNvPr id="33" name="TextBox 32">
            <a:extLst>
              <a:ext uri="{FF2B5EF4-FFF2-40B4-BE49-F238E27FC236}">
                <a16:creationId xmlns:a16="http://schemas.microsoft.com/office/drawing/2014/main" id="{5BE8A672-1433-9B78-073F-FEEBC1005A5C}"/>
              </a:ext>
            </a:extLst>
          </p:cNvPr>
          <p:cNvSpPr txBox="1"/>
          <p:nvPr/>
        </p:nvSpPr>
        <p:spPr>
          <a:xfrm>
            <a:off x="5514391" y="2287088"/>
            <a:ext cx="6102220" cy="2532681"/>
          </a:xfrm>
          <a:prstGeom prst="rect">
            <a:avLst/>
          </a:prstGeom>
          <a:noFill/>
        </p:spPr>
        <p:txBody>
          <a:bodyPr wrap="square">
            <a:spAutoFit/>
          </a:bodyPr>
          <a:lstStyle/>
          <a:p>
            <a:pPr algn="just">
              <a:lnSpc>
                <a:spcPct val="150000"/>
              </a:lnSpc>
            </a:pPr>
            <a:r>
              <a:rPr lang="en-US" i="1" dirty="0"/>
              <a:t>“Amazon is a highly competitive marketplace, especially for cell phones. Our project aims to understand what drives consumer purchasing decisions, focusing on factors like price, ratings, and brand reputation. By analyzing these elements, we aim to help sellers optimize their listings.”</a:t>
            </a:r>
            <a:endParaRPr lang="en-US" dirty="0"/>
          </a:p>
        </p:txBody>
      </p:sp>
    </p:spTree>
    <p:extLst>
      <p:ext uri="{BB962C8B-B14F-4D97-AF65-F5344CB8AC3E}">
        <p14:creationId xmlns:p14="http://schemas.microsoft.com/office/powerpoint/2010/main" val="944875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Objectives</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3</a:t>
            </a:fld>
            <a:endParaRPr lang="en-US" dirty="0"/>
          </a:p>
        </p:txBody>
      </p:sp>
      <p:sp>
        <p:nvSpPr>
          <p:cNvPr id="4" name="TextBox 3">
            <a:extLst>
              <a:ext uri="{FF2B5EF4-FFF2-40B4-BE49-F238E27FC236}">
                <a16:creationId xmlns:a16="http://schemas.microsoft.com/office/drawing/2014/main" id="{FFDA154A-EA4D-5699-2D5C-AA34C4053112}"/>
              </a:ext>
            </a:extLst>
          </p:cNvPr>
          <p:cNvSpPr txBox="1"/>
          <p:nvPr/>
        </p:nvSpPr>
        <p:spPr>
          <a:xfrm>
            <a:off x="5088519" y="1744244"/>
            <a:ext cx="6102220" cy="3369512"/>
          </a:xfrm>
          <a:prstGeom prst="rect">
            <a:avLst/>
          </a:prstGeom>
          <a:noFill/>
        </p:spPr>
        <p:txBody>
          <a:bodyPr wrap="square">
            <a:spAutoFit/>
          </a:bodyPr>
          <a:lstStyle/>
          <a:p>
            <a:pPr algn="just">
              <a:lnSpc>
                <a:spcPct val="150000"/>
              </a:lnSpc>
            </a:pPr>
            <a:r>
              <a:rPr lang="en-US" sz="1600" i="1" dirty="0"/>
              <a:t>“Our project has four main objectives:”</a:t>
            </a:r>
            <a:endParaRPr lang="en-US" sz="1600" dirty="0"/>
          </a:p>
          <a:p>
            <a:pPr marL="742950" lvl="1" indent="-285750" algn="just">
              <a:lnSpc>
                <a:spcPct val="150000"/>
              </a:lnSpc>
              <a:buFont typeface="Arial" panose="020B0604020202020204" pitchFamily="34" charset="0"/>
              <a:buChar char="•"/>
            </a:pPr>
            <a:r>
              <a:rPr lang="en-US" sz="1600" dirty="0"/>
              <a:t>Identify the key factors influencing consumer purchasing decisions for cell phones on Amazon.</a:t>
            </a:r>
          </a:p>
          <a:p>
            <a:pPr marL="742950" lvl="1" indent="-285750" algn="just">
              <a:lnSpc>
                <a:spcPct val="150000"/>
              </a:lnSpc>
              <a:buFont typeface="Arial" panose="020B0604020202020204" pitchFamily="34" charset="0"/>
              <a:buChar char="•"/>
            </a:pPr>
            <a:r>
              <a:rPr lang="en-US" sz="1600" dirty="0"/>
              <a:t>Analyze pricing trends and assess how different strategies impact sales and feedback.</a:t>
            </a:r>
          </a:p>
          <a:p>
            <a:pPr marL="742950" lvl="1" indent="-285750" algn="just">
              <a:lnSpc>
                <a:spcPct val="150000"/>
              </a:lnSpc>
              <a:buFont typeface="Arial" panose="020B0604020202020204" pitchFamily="34" charset="0"/>
              <a:buChar char="•"/>
            </a:pPr>
            <a:r>
              <a:rPr lang="en-US" sz="1600" dirty="0"/>
              <a:t>Provide practical recommendations for sellers to optimize product listings and improve sales.</a:t>
            </a:r>
          </a:p>
          <a:p>
            <a:pPr marL="742950" lvl="1" indent="-285750" algn="just">
              <a:lnSpc>
                <a:spcPct val="150000"/>
              </a:lnSpc>
              <a:buFont typeface="Arial" panose="020B0604020202020204" pitchFamily="34" charset="0"/>
              <a:buChar char="•"/>
            </a:pPr>
            <a:r>
              <a:rPr lang="en-US" sz="1600" dirty="0"/>
              <a:t>Compare how different brands perform in terms of customer satisfaction, pricing, and ratings.</a:t>
            </a:r>
          </a:p>
        </p:txBody>
      </p:sp>
    </p:spTree>
    <p:extLst>
      <p:ext uri="{BB962C8B-B14F-4D97-AF65-F5344CB8AC3E}">
        <p14:creationId xmlns:p14="http://schemas.microsoft.com/office/powerpoint/2010/main" val="2468514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Dataset Overview</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4</a:t>
            </a:fld>
            <a:endParaRPr lang="en-US" dirty="0"/>
          </a:p>
        </p:txBody>
      </p:sp>
      <p:sp>
        <p:nvSpPr>
          <p:cNvPr id="4" name="TextBox 3">
            <a:extLst>
              <a:ext uri="{FF2B5EF4-FFF2-40B4-BE49-F238E27FC236}">
                <a16:creationId xmlns:a16="http://schemas.microsoft.com/office/drawing/2014/main" id="{CCEB9496-43BD-AD64-44D0-3B5199782419}"/>
              </a:ext>
            </a:extLst>
          </p:cNvPr>
          <p:cNvSpPr txBox="1"/>
          <p:nvPr/>
        </p:nvSpPr>
        <p:spPr>
          <a:xfrm>
            <a:off x="5234473" y="1766234"/>
            <a:ext cx="6102220" cy="2630720"/>
          </a:xfrm>
          <a:prstGeom prst="rect">
            <a:avLst/>
          </a:prstGeom>
          <a:noFill/>
        </p:spPr>
        <p:txBody>
          <a:bodyPr wrap="square">
            <a:spAutoFit/>
          </a:bodyPr>
          <a:lstStyle/>
          <a:p>
            <a:pPr>
              <a:lnSpc>
                <a:spcPct val="150000"/>
              </a:lnSpc>
            </a:pPr>
            <a:r>
              <a:rPr lang="en-US" sz="1600" i="1" dirty="0"/>
              <a:t>“We analyzed a dataset sourced from Kaggle, containing over 3,300 entries of Amazon cell phones. It includes attributes like product name, brand, price, ratings, and more.”</a:t>
            </a:r>
            <a:endParaRPr lang="en-US" sz="1600" dirty="0"/>
          </a:p>
          <a:p>
            <a:pPr marL="742950" lvl="1" indent="-285750">
              <a:lnSpc>
                <a:spcPct val="150000"/>
              </a:lnSpc>
              <a:buFont typeface="Arial" panose="020B0604020202020204" pitchFamily="34" charset="0"/>
              <a:buChar char="•"/>
            </a:pPr>
            <a:r>
              <a:rPr lang="en-US" sz="1600" b="1" dirty="0"/>
              <a:t>Key Attributes:</a:t>
            </a:r>
            <a:r>
              <a:rPr lang="en-US" sz="1600" dirty="0"/>
              <a:t> Product Name, Brand, Price, Rating, Number of Reviews, etc.</a:t>
            </a:r>
          </a:p>
          <a:p>
            <a:pPr marL="742950" lvl="1" indent="-285750">
              <a:lnSpc>
                <a:spcPct val="150000"/>
              </a:lnSpc>
              <a:buFont typeface="Arial" panose="020B0604020202020204" pitchFamily="34" charset="0"/>
              <a:buChar char="•"/>
            </a:pPr>
            <a:r>
              <a:rPr lang="en-US" sz="1600" b="1" dirty="0"/>
              <a:t>Total Entries:</a:t>
            </a:r>
            <a:r>
              <a:rPr lang="en-US" sz="1600" dirty="0"/>
              <a:t> 3,351</a:t>
            </a:r>
          </a:p>
        </p:txBody>
      </p:sp>
      <p:sp>
        <p:nvSpPr>
          <p:cNvPr id="6" name="TextBox 5">
            <a:extLst>
              <a:ext uri="{FF2B5EF4-FFF2-40B4-BE49-F238E27FC236}">
                <a16:creationId xmlns:a16="http://schemas.microsoft.com/office/drawing/2014/main" id="{A1176258-4D2B-C972-F557-BB1A35740FFB}"/>
              </a:ext>
            </a:extLst>
          </p:cNvPr>
          <p:cNvSpPr txBox="1"/>
          <p:nvPr/>
        </p:nvSpPr>
        <p:spPr>
          <a:xfrm>
            <a:off x="5299787" y="4684273"/>
            <a:ext cx="6102220" cy="830997"/>
          </a:xfrm>
          <a:prstGeom prst="rect">
            <a:avLst/>
          </a:prstGeom>
          <a:noFill/>
        </p:spPr>
        <p:txBody>
          <a:bodyPr wrap="square">
            <a:spAutoFit/>
          </a:bodyPr>
          <a:lstStyle/>
          <a:p>
            <a:r>
              <a:rPr lang="en-IN" sz="1600" b="1" dirty="0"/>
              <a:t>Link:</a:t>
            </a:r>
          </a:p>
          <a:p>
            <a:pPr marL="742950" lvl="1" indent="-285750">
              <a:buFont typeface="Arial" panose="020B0604020202020204" pitchFamily="34" charset="0"/>
              <a:buChar char="•"/>
            </a:pPr>
            <a:r>
              <a:rPr lang="en-IN" sz="1600" dirty="0">
                <a:solidFill>
                  <a:schemeClr val="tx2">
                    <a:lumMod val="75000"/>
                  </a:schemeClr>
                </a:solidFill>
              </a:rPr>
              <a:t>https://www.kaggle.com/datasets/michaelmatta0/amazon-cell-phones-cleaned-scraped-data</a:t>
            </a:r>
          </a:p>
        </p:txBody>
      </p:sp>
    </p:spTree>
    <p:extLst>
      <p:ext uri="{BB962C8B-B14F-4D97-AF65-F5344CB8AC3E}">
        <p14:creationId xmlns:p14="http://schemas.microsoft.com/office/powerpoint/2010/main" val="3416319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Methodology</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5</a:t>
            </a:fld>
            <a:endParaRPr lang="en-US" dirty="0"/>
          </a:p>
        </p:txBody>
      </p:sp>
      <p:sp>
        <p:nvSpPr>
          <p:cNvPr id="4" name="TextBox 3">
            <a:extLst>
              <a:ext uri="{FF2B5EF4-FFF2-40B4-BE49-F238E27FC236}">
                <a16:creationId xmlns:a16="http://schemas.microsoft.com/office/drawing/2014/main" id="{338A309E-D074-A845-7505-59B3611029E5}"/>
              </a:ext>
            </a:extLst>
          </p:cNvPr>
          <p:cNvSpPr txBox="1"/>
          <p:nvPr/>
        </p:nvSpPr>
        <p:spPr>
          <a:xfrm>
            <a:off x="5088518" y="1442381"/>
            <a:ext cx="6192191" cy="4846840"/>
          </a:xfrm>
          <a:prstGeom prst="rect">
            <a:avLst/>
          </a:prstGeom>
          <a:noFill/>
        </p:spPr>
        <p:txBody>
          <a:bodyPr wrap="square">
            <a:spAutoFit/>
          </a:bodyPr>
          <a:lstStyle/>
          <a:p>
            <a:pPr algn="just">
              <a:lnSpc>
                <a:spcPct val="150000"/>
              </a:lnSpc>
            </a:pPr>
            <a:r>
              <a:rPr lang="en-US" sz="1600" i="1" dirty="0"/>
              <a:t>“Our approach is structured around several key data analysis techniques.”</a:t>
            </a:r>
          </a:p>
          <a:p>
            <a:pPr marL="742950" lvl="1" indent="-285750" algn="just">
              <a:lnSpc>
                <a:spcPct val="150000"/>
              </a:lnSpc>
              <a:buFont typeface="Arial" panose="020B0604020202020204" pitchFamily="34" charset="0"/>
              <a:buChar char="•"/>
            </a:pPr>
            <a:r>
              <a:rPr lang="en-US" sz="1600" b="1" dirty="0"/>
              <a:t>Data Cleaning &amp; Preparation:</a:t>
            </a:r>
            <a:r>
              <a:rPr lang="en-US" sz="1600" dirty="0"/>
              <a:t> Ensuring data is accurate and usable.</a:t>
            </a:r>
          </a:p>
          <a:p>
            <a:pPr marL="742950" lvl="1" indent="-285750" algn="just">
              <a:lnSpc>
                <a:spcPct val="150000"/>
              </a:lnSpc>
              <a:buFont typeface="Arial" panose="020B0604020202020204" pitchFamily="34" charset="0"/>
              <a:buChar char="•"/>
            </a:pPr>
            <a:r>
              <a:rPr lang="en-US" sz="1600" b="1" dirty="0"/>
              <a:t>Exploratory Data Analysis (EDA):</a:t>
            </a:r>
            <a:r>
              <a:rPr lang="en-US" sz="1600" dirty="0"/>
              <a:t> Identifying initial trends and patterns.</a:t>
            </a:r>
          </a:p>
          <a:p>
            <a:pPr marL="742950" lvl="1" indent="-285750" algn="just">
              <a:lnSpc>
                <a:spcPct val="150000"/>
              </a:lnSpc>
              <a:buFont typeface="Arial" panose="020B0604020202020204" pitchFamily="34" charset="0"/>
              <a:buChar char="•"/>
            </a:pPr>
            <a:r>
              <a:rPr lang="en-US" sz="1600" b="1" dirty="0"/>
              <a:t>Regression Analysis:</a:t>
            </a:r>
            <a:r>
              <a:rPr lang="en-US" sz="1600" dirty="0"/>
              <a:t> Quantifying the impact of product features on sales outcomes.</a:t>
            </a:r>
          </a:p>
          <a:p>
            <a:pPr marL="742950" lvl="1" indent="-285750" algn="just">
              <a:lnSpc>
                <a:spcPct val="150000"/>
              </a:lnSpc>
              <a:buFont typeface="Arial" panose="020B0604020202020204" pitchFamily="34" charset="0"/>
              <a:buChar char="•"/>
            </a:pPr>
            <a:r>
              <a:rPr lang="en-US" sz="1600" b="1" dirty="0"/>
              <a:t>Sentiment Analysis (Based on Ratings):</a:t>
            </a:r>
            <a:r>
              <a:rPr lang="en-US" sz="1600" dirty="0"/>
              <a:t> Categorizing consumer sentiment into positive, neutral, and negative based on ratings.</a:t>
            </a:r>
          </a:p>
          <a:p>
            <a:pPr marL="742950" lvl="1" indent="-285750" algn="just">
              <a:lnSpc>
                <a:spcPct val="150000"/>
              </a:lnSpc>
              <a:buFont typeface="Arial" panose="020B0604020202020204" pitchFamily="34" charset="0"/>
              <a:buChar char="•"/>
            </a:pPr>
            <a:r>
              <a:rPr lang="en-US" sz="1600" b="1" dirty="0"/>
              <a:t>Clustering Analysis:</a:t>
            </a:r>
            <a:r>
              <a:rPr lang="en-US" sz="1600" dirty="0"/>
              <a:t> Grouping similar products to identify key market segments.</a:t>
            </a:r>
          </a:p>
        </p:txBody>
      </p:sp>
    </p:spTree>
    <p:extLst>
      <p:ext uri="{BB962C8B-B14F-4D97-AF65-F5344CB8AC3E}">
        <p14:creationId xmlns:p14="http://schemas.microsoft.com/office/powerpoint/2010/main" val="4258534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Data Cleaning &amp; Preparation</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6</a:t>
            </a:fld>
            <a:endParaRPr lang="en-US" dirty="0"/>
          </a:p>
        </p:txBody>
      </p:sp>
      <p:sp>
        <p:nvSpPr>
          <p:cNvPr id="4" name="TextBox 3">
            <a:extLst>
              <a:ext uri="{FF2B5EF4-FFF2-40B4-BE49-F238E27FC236}">
                <a16:creationId xmlns:a16="http://schemas.microsoft.com/office/drawing/2014/main" id="{5040109F-263A-1420-A155-C499A7048A7E}"/>
              </a:ext>
            </a:extLst>
          </p:cNvPr>
          <p:cNvSpPr txBox="1"/>
          <p:nvPr/>
        </p:nvSpPr>
        <p:spPr>
          <a:xfrm>
            <a:off x="5318447" y="2093952"/>
            <a:ext cx="6102220" cy="2476960"/>
          </a:xfrm>
          <a:prstGeom prst="rect">
            <a:avLst/>
          </a:prstGeom>
          <a:noFill/>
        </p:spPr>
        <p:txBody>
          <a:bodyPr wrap="square">
            <a:spAutoFit/>
          </a:bodyPr>
          <a:lstStyle/>
          <a:p>
            <a:pPr algn="just">
              <a:lnSpc>
                <a:spcPct val="200000"/>
              </a:lnSpc>
            </a:pPr>
            <a:r>
              <a:rPr lang="en-US" sz="1600" i="1" dirty="0"/>
              <a:t>“We focused on handling missing values, standardizing data, and preparing it for further analysis. For instance, we filled missing values for price, RAM, and other critical fields.”</a:t>
            </a:r>
            <a:endParaRPr lang="en-US" sz="1600" dirty="0"/>
          </a:p>
          <a:p>
            <a:pPr marL="285750" indent="-285750" algn="just">
              <a:lnSpc>
                <a:spcPct val="200000"/>
              </a:lnSpc>
              <a:buFont typeface="Arial" panose="020B0604020202020204" pitchFamily="34" charset="0"/>
              <a:buChar char="•"/>
            </a:pPr>
            <a:r>
              <a:rPr lang="en-US" sz="1600" b="1" dirty="0"/>
              <a:t>Key Steps:</a:t>
            </a:r>
            <a:r>
              <a:rPr lang="en-US" sz="1600" dirty="0"/>
              <a:t> Filling missing prices, standardizing categorical variables, handling outliers.</a:t>
            </a:r>
          </a:p>
        </p:txBody>
      </p:sp>
    </p:spTree>
    <p:extLst>
      <p:ext uri="{BB962C8B-B14F-4D97-AF65-F5344CB8AC3E}">
        <p14:creationId xmlns:p14="http://schemas.microsoft.com/office/powerpoint/2010/main" val="763500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1C5BDB-91AB-341B-55B6-F567B689D6E0}"/>
              </a:ext>
            </a:extLst>
          </p:cNvPr>
          <p:cNvSpPr>
            <a:spLocks noGrp="1"/>
          </p:cNvSpPr>
          <p:nvPr>
            <p:ph type="sldNum" sz="quarter" idx="12"/>
          </p:nvPr>
        </p:nvSpPr>
        <p:spPr/>
        <p:txBody>
          <a:bodyPr/>
          <a:lstStyle/>
          <a:p>
            <a:fld id="{9FF96B15-8338-45D5-A943-561235072D66}" type="slidenum">
              <a:rPr lang="en-US" noProof="0" smtClean="0"/>
              <a:t>7</a:t>
            </a:fld>
            <a:endParaRPr lang="en-US" noProof="0" dirty="0"/>
          </a:p>
        </p:txBody>
      </p:sp>
      <p:pic>
        <p:nvPicPr>
          <p:cNvPr id="4" name="Picture 3">
            <a:extLst>
              <a:ext uri="{FF2B5EF4-FFF2-40B4-BE49-F238E27FC236}">
                <a16:creationId xmlns:a16="http://schemas.microsoft.com/office/drawing/2014/main" id="{026DA7E0-2A3A-C941-F12C-FA6799401778}"/>
              </a:ext>
            </a:extLst>
          </p:cNvPr>
          <p:cNvPicPr>
            <a:picLocks noChangeAspect="1"/>
          </p:cNvPicPr>
          <p:nvPr/>
        </p:nvPicPr>
        <p:blipFill>
          <a:blip r:embed="rId2"/>
          <a:stretch>
            <a:fillRect/>
          </a:stretch>
        </p:blipFill>
        <p:spPr>
          <a:xfrm>
            <a:off x="1289505" y="1379893"/>
            <a:ext cx="4411499" cy="4255799"/>
          </a:xfrm>
          <a:prstGeom prst="rect">
            <a:avLst/>
          </a:prstGeom>
        </p:spPr>
      </p:pic>
      <p:pic>
        <p:nvPicPr>
          <p:cNvPr id="6" name="Picture 5">
            <a:extLst>
              <a:ext uri="{FF2B5EF4-FFF2-40B4-BE49-F238E27FC236}">
                <a16:creationId xmlns:a16="http://schemas.microsoft.com/office/drawing/2014/main" id="{C68C935D-30FF-4A12-902F-9F234BDF6293}"/>
              </a:ext>
            </a:extLst>
          </p:cNvPr>
          <p:cNvPicPr>
            <a:picLocks noChangeAspect="1"/>
          </p:cNvPicPr>
          <p:nvPr/>
        </p:nvPicPr>
        <p:blipFill>
          <a:blip r:embed="rId3"/>
          <a:stretch>
            <a:fillRect/>
          </a:stretch>
        </p:blipFill>
        <p:spPr>
          <a:xfrm>
            <a:off x="6096000" y="1371328"/>
            <a:ext cx="5187420" cy="4264364"/>
          </a:xfrm>
          <a:prstGeom prst="rect">
            <a:avLst/>
          </a:prstGeom>
        </p:spPr>
      </p:pic>
    </p:spTree>
    <p:extLst>
      <p:ext uri="{BB962C8B-B14F-4D97-AF65-F5344CB8AC3E}">
        <p14:creationId xmlns:p14="http://schemas.microsoft.com/office/powerpoint/2010/main" val="3050786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Exploratory Data Analysis (EDA)</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8</a:t>
            </a:fld>
            <a:endParaRPr lang="en-US" dirty="0"/>
          </a:p>
        </p:txBody>
      </p:sp>
      <p:sp>
        <p:nvSpPr>
          <p:cNvPr id="4" name="TextBox 3">
            <a:extLst>
              <a:ext uri="{FF2B5EF4-FFF2-40B4-BE49-F238E27FC236}">
                <a16:creationId xmlns:a16="http://schemas.microsoft.com/office/drawing/2014/main" id="{8024F5AE-FB6F-1BF6-EBAD-C0FEE6577D7F}"/>
              </a:ext>
            </a:extLst>
          </p:cNvPr>
          <p:cNvSpPr txBox="1"/>
          <p:nvPr/>
        </p:nvSpPr>
        <p:spPr>
          <a:xfrm>
            <a:off x="5262465" y="1540639"/>
            <a:ext cx="6102220" cy="3000180"/>
          </a:xfrm>
          <a:prstGeom prst="rect">
            <a:avLst/>
          </a:prstGeom>
          <a:noFill/>
        </p:spPr>
        <p:txBody>
          <a:bodyPr wrap="square">
            <a:spAutoFit/>
          </a:bodyPr>
          <a:lstStyle/>
          <a:p>
            <a:pPr algn="just">
              <a:lnSpc>
                <a:spcPct val="150000"/>
              </a:lnSpc>
            </a:pPr>
            <a:r>
              <a:rPr lang="en-US" sz="1600" i="1" dirty="0"/>
              <a:t>“Through our EDA, we explored how key variables interact. For example, we analyzed the relationship between price, ratings, and brand performance.”</a:t>
            </a:r>
            <a:endParaRPr lang="en-US" sz="1600" dirty="0"/>
          </a:p>
          <a:p>
            <a:pPr algn="just">
              <a:lnSpc>
                <a:spcPct val="150000"/>
              </a:lnSpc>
              <a:buFont typeface="Arial" panose="020B0604020202020204" pitchFamily="34" charset="0"/>
              <a:buChar char="•"/>
            </a:pPr>
            <a:r>
              <a:rPr lang="en-US" sz="1600" b="1" dirty="0"/>
              <a:t>Visuals:</a:t>
            </a:r>
            <a:endParaRPr lang="en-US" sz="1600" dirty="0"/>
          </a:p>
          <a:p>
            <a:pPr marL="742950" lvl="1" indent="-285750" algn="just">
              <a:lnSpc>
                <a:spcPct val="150000"/>
              </a:lnSpc>
              <a:buFont typeface="Arial" panose="020B0604020202020204" pitchFamily="34" charset="0"/>
              <a:buChar char="•"/>
            </a:pPr>
            <a:r>
              <a:rPr lang="en-US" sz="1600" dirty="0"/>
              <a:t>Scatter plot: Price vs. Ratings</a:t>
            </a:r>
          </a:p>
          <a:p>
            <a:pPr marL="742950" lvl="1" indent="-285750" algn="just">
              <a:lnSpc>
                <a:spcPct val="150000"/>
              </a:lnSpc>
              <a:buFont typeface="Arial" panose="020B0604020202020204" pitchFamily="34" charset="0"/>
              <a:buChar char="•"/>
            </a:pPr>
            <a:r>
              <a:rPr lang="en-US" sz="1600" dirty="0"/>
              <a:t>Bar chart: Average Price by Brand</a:t>
            </a:r>
          </a:p>
          <a:p>
            <a:pPr algn="just">
              <a:lnSpc>
                <a:spcPct val="150000"/>
              </a:lnSpc>
              <a:buFont typeface="Arial" panose="020B0604020202020204" pitchFamily="34" charset="0"/>
              <a:buChar char="•"/>
            </a:pPr>
            <a:r>
              <a:rPr lang="en-US" sz="1600" b="1" dirty="0"/>
              <a:t>Key Insight:</a:t>
            </a:r>
            <a:r>
              <a:rPr lang="en-US" sz="1600" dirty="0"/>
              <a:t> Products with higher prices don’t always receive better ratings.</a:t>
            </a:r>
          </a:p>
        </p:txBody>
      </p:sp>
    </p:spTree>
    <p:extLst>
      <p:ext uri="{BB962C8B-B14F-4D97-AF65-F5344CB8AC3E}">
        <p14:creationId xmlns:p14="http://schemas.microsoft.com/office/powerpoint/2010/main" val="120153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D08F51-1CF8-1A42-91FB-FB9B534B7707}"/>
              </a:ext>
            </a:extLst>
          </p:cNvPr>
          <p:cNvSpPr>
            <a:spLocks noGrp="1"/>
          </p:cNvSpPr>
          <p:nvPr>
            <p:ph type="sldNum" sz="quarter" idx="12"/>
          </p:nvPr>
        </p:nvSpPr>
        <p:spPr/>
        <p:txBody>
          <a:bodyPr/>
          <a:lstStyle/>
          <a:p>
            <a:fld id="{9FF96B15-8338-45D5-A943-561235072D66}" type="slidenum">
              <a:rPr lang="en-US" noProof="0" smtClean="0"/>
              <a:t>9</a:t>
            </a:fld>
            <a:endParaRPr lang="en-US" noProof="0" dirty="0"/>
          </a:p>
        </p:txBody>
      </p:sp>
      <p:pic>
        <p:nvPicPr>
          <p:cNvPr id="4" name="Picture 3">
            <a:extLst>
              <a:ext uri="{FF2B5EF4-FFF2-40B4-BE49-F238E27FC236}">
                <a16:creationId xmlns:a16="http://schemas.microsoft.com/office/drawing/2014/main" id="{4E3FD461-DF57-2DE8-8A04-ED1665933203}"/>
              </a:ext>
            </a:extLst>
          </p:cNvPr>
          <p:cNvPicPr>
            <a:picLocks noChangeAspect="1"/>
          </p:cNvPicPr>
          <p:nvPr/>
        </p:nvPicPr>
        <p:blipFill>
          <a:blip r:embed="rId2"/>
          <a:stretch>
            <a:fillRect/>
          </a:stretch>
        </p:blipFill>
        <p:spPr>
          <a:xfrm>
            <a:off x="948798" y="1314450"/>
            <a:ext cx="5147202" cy="4615210"/>
          </a:xfrm>
          <a:prstGeom prst="rect">
            <a:avLst/>
          </a:prstGeom>
        </p:spPr>
      </p:pic>
      <p:pic>
        <p:nvPicPr>
          <p:cNvPr id="6" name="Picture 5">
            <a:extLst>
              <a:ext uri="{FF2B5EF4-FFF2-40B4-BE49-F238E27FC236}">
                <a16:creationId xmlns:a16="http://schemas.microsoft.com/office/drawing/2014/main" id="{4FDACF52-AE03-7D2F-33E3-3BEDD1860356}"/>
              </a:ext>
            </a:extLst>
          </p:cNvPr>
          <p:cNvPicPr>
            <a:picLocks noChangeAspect="1"/>
          </p:cNvPicPr>
          <p:nvPr/>
        </p:nvPicPr>
        <p:blipFill>
          <a:blip r:embed="rId3"/>
          <a:stretch>
            <a:fillRect/>
          </a:stretch>
        </p:blipFill>
        <p:spPr>
          <a:xfrm>
            <a:off x="6343546" y="1418252"/>
            <a:ext cx="4899656" cy="4226767"/>
          </a:xfrm>
          <a:prstGeom prst="rect">
            <a:avLst/>
          </a:prstGeom>
        </p:spPr>
      </p:pic>
    </p:spTree>
    <p:extLst>
      <p:ext uri="{BB962C8B-B14F-4D97-AF65-F5344CB8AC3E}">
        <p14:creationId xmlns:p14="http://schemas.microsoft.com/office/powerpoint/2010/main" val="331610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US" sz="3200" b="1" dirty="0"/>
              <a:t>Sentiment Analysis Based on Ratings</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10</a:t>
            </a:fld>
            <a:endParaRPr lang="en-US" dirty="0"/>
          </a:p>
        </p:txBody>
      </p:sp>
      <p:sp>
        <p:nvSpPr>
          <p:cNvPr id="4" name="TextBox 3">
            <a:extLst>
              <a:ext uri="{FF2B5EF4-FFF2-40B4-BE49-F238E27FC236}">
                <a16:creationId xmlns:a16="http://schemas.microsoft.com/office/drawing/2014/main" id="{767D67C9-0C4C-1FBB-2563-D1E859DB3698}"/>
              </a:ext>
            </a:extLst>
          </p:cNvPr>
          <p:cNvSpPr txBox="1"/>
          <p:nvPr/>
        </p:nvSpPr>
        <p:spPr>
          <a:xfrm>
            <a:off x="5169160" y="1284037"/>
            <a:ext cx="6102220" cy="1892185"/>
          </a:xfrm>
          <a:prstGeom prst="rect">
            <a:avLst/>
          </a:prstGeom>
          <a:noFill/>
        </p:spPr>
        <p:txBody>
          <a:bodyPr wrap="square">
            <a:spAutoFit/>
          </a:bodyPr>
          <a:lstStyle/>
          <a:p>
            <a:pPr algn="just">
              <a:lnSpc>
                <a:spcPct val="150000"/>
              </a:lnSpc>
            </a:pPr>
            <a:r>
              <a:rPr lang="en-US" sz="1600" i="1" dirty="0"/>
              <a:t>“We noticed a high count of Neutral ratings, so we adjusted the criteria: Positive (only 5), Neutral (3-4), Negative (1-2). This gave us a clearer picture of how customers perceive the products.”</a:t>
            </a:r>
          </a:p>
          <a:p>
            <a:pPr algn="just">
              <a:lnSpc>
                <a:spcPct val="150000"/>
              </a:lnSpc>
            </a:pPr>
            <a:endParaRPr lang="en-US" sz="1600" dirty="0"/>
          </a:p>
        </p:txBody>
      </p:sp>
      <p:pic>
        <p:nvPicPr>
          <p:cNvPr id="10" name="Picture 9">
            <a:extLst>
              <a:ext uri="{FF2B5EF4-FFF2-40B4-BE49-F238E27FC236}">
                <a16:creationId xmlns:a16="http://schemas.microsoft.com/office/drawing/2014/main" id="{43ADFE50-95C1-37FC-7A81-ECC1110BF3E5}"/>
              </a:ext>
            </a:extLst>
          </p:cNvPr>
          <p:cNvPicPr>
            <a:picLocks noChangeAspect="1"/>
          </p:cNvPicPr>
          <p:nvPr/>
        </p:nvPicPr>
        <p:blipFill>
          <a:blip r:embed="rId2"/>
          <a:stretch>
            <a:fillRect/>
          </a:stretch>
        </p:blipFill>
        <p:spPr>
          <a:xfrm>
            <a:off x="5211448" y="3030647"/>
            <a:ext cx="4773434" cy="3453754"/>
          </a:xfrm>
          <a:prstGeom prst="rect">
            <a:avLst/>
          </a:prstGeom>
        </p:spPr>
      </p:pic>
    </p:spTree>
    <p:extLst>
      <p:ext uri="{BB962C8B-B14F-4D97-AF65-F5344CB8AC3E}">
        <p14:creationId xmlns:p14="http://schemas.microsoft.com/office/powerpoint/2010/main" val="428116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Regression Analysis</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11</a:t>
            </a:fld>
            <a:endParaRPr lang="en-US" dirty="0"/>
          </a:p>
        </p:txBody>
      </p:sp>
      <p:sp>
        <p:nvSpPr>
          <p:cNvPr id="4" name="TextBox 3">
            <a:extLst>
              <a:ext uri="{FF2B5EF4-FFF2-40B4-BE49-F238E27FC236}">
                <a16:creationId xmlns:a16="http://schemas.microsoft.com/office/drawing/2014/main" id="{AFBF259D-25ED-BB21-D27D-A9F67668D53C}"/>
              </a:ext>
            </a:extLst>
          </p:cNvPr>
          <p:cNvSpPr txBox="1"/>
          <p:nvPr/>
        </p:nvSpPr>
        <p:spPr>
          <a:xfrm>
            <a:off x="5253135" y="1346099"/>
            <a:ext cx="6102220" cy="5216172"/>
          </a:xfrm>
          <a:prstGeom prst="rect">
            <a:avLst/>
          </a:prstGeom>
          <a:noFill/>
        </p:spPr>
        <p:txBody>
          <a:bodyPr wrap="square">
            <a:spAutoFit/>
          </a:bodyPr>
          <a:lstStyle/>
          <a:p>
            <a:pPr algn="just">
              <a:lnSpc>
                <a:spcPct val="150000"/>
              </a:lnSpc>
            </a:pPr>
            <a:r>
              <a:rPr lang="en-US" sz="1600" i="1" dirty="0"/>
              <a:t>“We used regression analysis to understand how different features influence the price of cell phones on Amazon. Here are the results:”</a:t>
            </a:r>
            <a:endParaRPr lang="en-US" sz="1600" dirty="0"/>
          </a:p>
          <a:p>
            <a:pPr marL="285750" indent="-285750" algn="just">
              <a:lnSpc>
                <a:spcPct val="150000"/>
              </a:lnSpc>
              <a:buFont typeface="Arial" panose="020B0604020202020204" pitchFamily="34" charset="0"/>
              <a:buChar char="•"/>
            </a:pPr>
            <a:r>
              <a:rPr lang="en-US" sz="1600" b="1" dirty="0"/>
              <a:t>Model Used:</a:t>
            </a:r>
            <a:r>
              <a:rPr lang="en-US" sz="1600" dirty="0"/>
              <a:t> Linear Regression</a:t>
            </a:r>
          </a:p>
          <a:p>
            <a:pPr marL="285750" indent="-285750" algn="just">
              <a:lnSpc>
                <a:spcPct val="150000"/>
              </a:lnSpc>
              <a:buFont typeface="Arial" panose="020B0604020202020204" pitchFamily="34" charset="0"/>
              <a:buChar char="•"/>
            </a:pPr>
            <a:r>
              <a:rPr lang="en-US" sz="1600" b="1" dirty="0"/>
              <a:t>Evaluation Metrics:</a:t>
            </a:r>
            <a:endParaRPr lang="en-US" sz="1600" dirty="0"/>
          </a:p>
          <a:p>
            <a:pPr marL="742950" lvl="1" indent="-285750" algn="just">
              <a:lnSpc>
                <a:spcPct val="150000"/>
              </a:lnSpc>
              <a:buFont typeface="Arial" panose="020B0604020202020204" pitchFamily="34" charset="0"/>
              <a:buChar char="•"/>
            </a:pPr>
            <a:r>
              <a:rPr lang="en-US" sz="1600" b="1" dirty="0"/>
              <a:t>Mean Squared Error (MSE):</a:t>
            </a:r>
            <a:r>
              <a:rPr lang="en-US" sz="1600" dirty="0"/>
              <a:t> 35,111.90</a:t>
            </a:r>
          </a:p>
          <a:p>
            <a:pPr marL="1143000" lvl="2" indent="-228600" algn="just">
              <a:lnSpc>
                <a:spcPct val="150000"/>
              </a:lnSpc>
              <a:buFont typeface="Arial" panose="020B0604020202020204" pitchFamily="34" charset="0"/>
              <a:buChar char="•"/>
            </a:pPr>
            <a:r>
              <a:rPr lang="en-US" sz="1600" i="1" dirty="0"/>
              <a:t>This indicates the average squared difference between the predicted and actual prices.</a:t>
            </a:r>
            <a:endParaRPr lang="en-US" sz="1600" dirty="0"/>
          </a:p>
          <a:p>
            <a:pPr marL="742950" lvl="1" indent="-285750" algn="just">
              <a:lnSpc>
                <a:spcPct val="150000"/>
              </a:lnSpc>
              <a:buFont typeface="Arial" panose="020B0604020202020204" pitchFamily="34" charset="0"/>
              <a:buChar char="•"/>
            </a:pPr>
            <a:r>
              <a:rPr lang="en-US" sz="1600" b="1" dirty="0"/>
              <a:t>R-squared:</a:t>
            </a:r>
            <a:r>
              <a:rPr lang="en-US" sz="1600" dirty="0"/>
              <a:t> 0.305</a:t>
            </a:r>
          </a:p>
          <a:p>
            <a:pPr marL="1143000" lvl="2" indent="-228600" algn="just">
              <a:lnSpc>
                <a:spcPct val="150000"/>
              </a:lnSpc>
              <a:buFont typeface="Arial" panose="020B0604020202020204" pitchFamily="34" charset="0"/>
              <a:buChar char="•"/>
            </a:pPr>
            <a:r>
              <a:rPr lang="en-US" sz="1600" i="1" dirty="0"/>
              <a:t>About 30.5% of the variation in price can be explained by the features used in the model. This shows some predictive power, but there are other factors affecting price that aren’t captured here.</a:t>
            </a:r>
            <a:endParaRPr lang="en-US" sz="1600" dirty="0"/>
          </a:p>
        </p:txBody>
      </p:sp>
    </p:spTree>
    <p:extLst>
      <p:ext uri="{BB962C8B-B14F-4D97-AF65-F5344CB8AC3E}">
        <p14:creationId xmlns:p14="http://schemas.microsoft.com/office/powerpoint/2010/main" val="2609474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79CF3C-6024-AC1A-75E5-51ACA97CE69D}"/>
              </a:ext>
            </a:extLst>
          </p:cNvPr>
          <p:cNvSpPr>
            <a:spLocks noGrp="1"/>
          </p:cNvSpPr>
          <p:nvPr>
            <p:ph type="sldNum" sz="quarter" idx="12"/>
          </p:nvPr>
        </p:nvSpPr>
        <p:spPr/>
        <p:txBody>
          <a:bodyPr/>
          <a:lstStyle/>
          <a:p>
            <a:fld id="{9FF96B15-8338-45D5-A943-561235072D66}" type="slidenum">
              <a:rPr lang="en-US" noProof="0" smtClean="0"/>
              <a:t>12</a:t>
            </a:fld>
            <a:endParaRPr lang="en-US" noProof="0" dirty="0"/>
          </a:p>
        </p:txBody>
      </p:sp>
      <p:graphicFrame>
        <p:nvGraphicFramePr>
          <p:cNvPr id="3" name="Table 2">
            <a:extLst>
              <a:ext uri="{FF2B5EF4-FFF2-40B4-BE49-F238E27FC236}">
                <a16:creationId xmlns:a16="http://schemas.microsoft.com/office/drawing/2014/main" id="{F2F28470-F59A-1FBA-2751-C52F2808BE3D}"/>
              </a:ext>
            </a:extLst>
          </p:cNvPr>
          <p:cNvGraphicFramePr>
            <a:graphicFrameLocks noGrp="1"/>
          </p:cNvGraphicFramePr>
          <p:nvPr>
            <p:extLst>
              <p:ext uri="{D42A27DB-BD31-4B8C-83A1-F6EECF244321}">
                <p14:modId xmlns:p14="http://schemas.microsoft.com/office/powerpoint/2010/main" val="2349104814"/>
              </p:ext>
            </p:extLst>
          </p:nvPr>
        </p:nvGraphicFramePr>
        <p:xfrm>
          <a:off x="1443453" y="1982237"/>
          <a:ext cx="7550940" cy="3456834"/>
        </p:xfrm>
        <a:graphic>
          <a:graphicData uri="http://schemas.openxmlformats.org/drawingml/2006/table">
            <a:tbl>
              <a:tblPr>
                <a:tableStyleId>{D7AC3CCA-C797-4891-BE02-D94E43425B78}</a:tableStyleId>
              </a:tblPr>
              <a:tblGrid>
                <a:gridCol w="2516980">
                  <a:extLst>
                    <a:ext uri="{9D8B030D-6E8A-4147-A177-3AD203B41FA5}">
                      <a16:colId xmlns:a16="http://schemas.microsoft.com/office/drawing/2014/main" val="3326695009"/>
                    </a:ext>
                  </a:extLst>
                </a:gridCol>
                <a:gridCol w="2516980">
                  <a:extLst>
                    <a:ext uri="{9D8B030D-6E8A-4147-A177-3AD203B41FA5}">
                      <a16:colId xmlns:a16="http://schemas.microsoft.com/office/drawing/2014/main" val="3783080217"/>
                    </a:ext>
                  </a:extLst>
                </a:gridCol>
                <a:gridCol w="2516980">
                  <a:extLst>
                    <a:ext uri="{9D8B030D-6E8A-4147-A177-3AD203B41FA5}">
                      <a16:colId xmlns:a16="http://schemas.microsoft.com/office/drawing/2014/main" val="266269271"/>
                    </a:ext>
                  </a:extLst>
                </a:gridCol>
              </a:tblGrid>
              <a:tr h="189794">
                <a:tc>
                  <a:txBody>
                    <a:bodyPr/>
                    <a:lstStyle/>
                    <a:p>
                      <a:r>
                        <a:rPr lang="en-IN" sz="1200" b="1" dirty="0"/>
                        <a:t>Feature</a:t>
                      </a:r>
                    </a:p>
                  </a:txBody>
                  <a:tcPr marL="47449" marR="47449" marT="23724" marB="23724" anchor="ctr"/>
                </a:tc>
                <a:tc>
                  <a:txBody>
                    <a:bodyPr/>
                    <a:lstStyle/>
                    <a:p>
                      <a:r>
                        <a:rPr lang="en-IN" sz="1200" b="1" dirty="0"/>
                        <a:t>Importance</a:t>
                      </a:r>
                    </a:p>
                  </a:txBody>
                  <a:tcPr marL="47449" marR="47449" marT="23724" marB="23724" anchor="ctr"/>
                </a:tc>
                <a:tc>
                  <a:txBody>
                    <a:bodyPr/>
                    <a:lstStyle/>
                    <a:p>
                      <a:r>
                        <a:rPr lang="en-IN" sz="1200" b="1" dirty="0"/>
                        <a:t>Interpretation</a:t>
                      </a:r>
                    </a:p>
                  </a:txBody>
                  <a:tcPr marL="47449" marR="47449" marT="23724" marB="23724" anchor="ctr"/>
                </a:tc>
                <a:extLst>
                  <a:ext uri="{0D108BD9-81ED-4DB2-BD59-A6C34878D82A}">
                    <a16:rowId xmlns:a16="http://schemas.microsoft.com/office/drawing/2014/main" val="629611420"/>
                  </a:ext>
                </a:extLst>
              </a:tr>
              <a:tr h="901524">
                <a:tc>
                  <a:txBody>
                    <a:bodyPr/>
                    <a:lstStyle/>
                    <a:p>
                      <a:r>
                        <a:rPr lang="en-IN" sz="1200" dirty="0"/>
                        <a:t>rating_out_of_5</a:t>
                      </a:r>
                    </a:p>
                  </a:txBody>
                  <a:tcPr marL="47449" marR="47449" marT="23724" marB="23724" anchor="ctr"/>
                </a:tc>
                <a:tc>
                  <a:txBody>
                    <a:bodyPr/>
                    <a:lstStyle/>
                    <a:p>
                      <a:r>
                        <a:rPr lang="en-IN" sz="1200" dirty="0"/>
                        <a:t>36.84</a:t>
                      </a:r>
                    </a:p>
                  </a:txBody>
                  <a:tcPr marL="47449" marR="47449" marT="23724" marB="23724" anchor="ctr"/>
                </a:tc>
                <a:tc>
                  <a:txBody>
                    <a:bodyPr/>
                    <a:lstStyle/>
                    <a:p>
                      <a:r>
                        <a:rPr lang="en-US" sz="1200"/>
                        <a:t>Higher ratings tend to slightly increase the price, suggesting that well-rated products might be positioned as premium.</a:t>
                      </a:r>
                    </a:p>
                  </a:txBody>
                  <a:tcPr marL="47449" marR="47449" marT="23724" marB="23724" anchor="ctr"/>
                </a:tc>
                <a:extLst>
                  <a:ext uri="{0D108BD9-81ED-4DB2-BD59-A6C34878D82A}">
                    <a16:rowId xmlns:a16="http://schemas.microsoft.com/office/drawing/2014/main" val="1958203593"/>
                  </a:ext>
                </a:extLst>
              </a:tr>
              <a:tr h="759178">
                <a:tc>
                  <a:txBody>
                    <a:bodyPr/>
                    <a:lstStyle/>
                    <a:p>
                      <a:r>
                        <a:rPr lang="en-IN" sz="1200"/>
                        <a:t>number_of_ratings</a:t>
                      </a:r>
                    </a:p>
                  </a:txBody>
                  <a:tcPr marL="47449" marR="47449" marT="23724" marB="23724" anchor="ctr"/>
                </a:tc>
                <a:tc>
                  <a:txBody>
                    <a:bodyPr/>
                    <a:lstStyle/>
                    <a:p>
                      <a:r>
                        <a:rPr lang="en-IN" sz="1200"/>
                        <a:t>-0.0005</a:t>
                      </a:r>
                    </a:p>
                  </a:txBody>
                  <a:tcPr marL="47449" marR="47449" marT="23724" marB="23724" anchor="ctr"/>
                </a:tc>
                <a:tc>
                  <a:txBody>
                    <a:bodyPr/>
                    <a:lstStyle/>
                    <a:p>
                      <a:r>
                        <a:rPr lang="en-US" sz="1200"/>
                        <a:t>Insignificant effect, meaning the sheer number of ratings doesn’t impact the price.</a:t>
                      </a:r>
                    </a:p>
                  </a:txBody>
                  <a:tcPr marL="47449" marR="47449" marT="23724" marB="23724" anchor="ctr"/>
                </a:tc>
                <a:extLst>
                  <a:ext uri="{0D108BD9-81ED-4DB2-BD59-A6C34878D82A}">
                    <a16:rowId xmlns:a16="http://schemas.microsoft.com/office/drawing/2014/main" val="1681353670"/>
                  </a:ext>
                </a:extLst>
              </a:tr>
              <a:tr h="616832">
                <a:tc>
                  <a:txBody>
                    <a:bodyPr/>
                    <a:lstStyle/>
                    <a:p>
                      <a:r>
                        <a:rPr lang="en-IN" sz="1200"/>
                        <a:t>RAM (GB)</a:t>
                      </a:r>
                    </a:p>
                  </a:txBody>
                  <a:tcPr marL="47449" marR="47449" marT="23724" marB="23724" anchor="ctr"/>
                </a:tc>
                <a:tc>
                  <a:txBody>
                    <a:bodyPr/>
                    <a:lstStyle/>
                    <a:p>
                      <a:r>
                        <a:rPr lang="en-IN" sz="1200"/>
                        <a:t>0.29</a:t>
                      </a:r>
                    </a:p>
                  </a:txBody>
                  <a:tcPr marL="47449" marR="47449" marT="23724" marB="23724" anchor="ctr"/>
                </a:tc>
                <a:tc>
                  <a:txBody>
                    <a:bodyPr/>
                    <a:lstStyle/>
                    <a:p>
                      <a:r>
                        <a:rPr lang="en-US" sz="1200"/>
                        <a:t>More RAM generally leads to a higher price, which aligns with expectations.</a:t>
                      </a:r>
                    </a:p>
                  </a:txBody>
                  <a:tcPr marL="47449" marR="47449" marT="23724" marB="23724" anchor="ctr"/>
                </a:tc>
                <a:extLst>
                  <a:ext uri="{0D108BD9-81ED-4DB2-BD59-A6C34878D82A}">
                    <a16:rowId xmlns:a16="http://schemas.microsoft.com/office/drawing/2014/main" val="4188525488"/>
                  </a:ext>
                </a:extLst>
              </a:tr>
              <a:tr h="474486">
                <a:tc>
                  <a:txBody>
                    <a:bodyPr/>
                    <a:lstStyle/>
                    <a:p>
                      <a:r>
                        <a:rPr lang="en-IN" sz="1200"/>
                        <a:t>Storage (GB)</a:t>
                      </a:r>
                    </a:p>
                  </a:txBody>
                  <a:tcPr marL="47449" marR="47449" marT="23724" marB="23724" anchor="ctr"/>
                </a:tc>
                <a:tc>
                  <a:txBody>
                    <a:bodyPr/>
                    <a:lstStyle/>
                    <a:p>
                      <a:r>
                        <a:rPr lang="en-IN" sz="1200"/>
                        <a:t>0.72</a:t>
                      </a:r>
                    </a:p>
                  </a:txBody>
                  <a:tcPr marL="47449" marR="47449" marT="23724" marB="23724" anchor="ctr"/>
                </a:tc>
                <a:tc>
                  <a:txBody>
                    <a:bodyPr/>
                    <a:lstStyle/>
                    <a:p>
                      <a:r>
                        <a:rPr lang="en-US" sz="1200"/>
                        <a:t>Additional storage has a noticeable impact on price.</a:t>
                      </a:r>
                    </a:p>
                  </a:txBody>
                  <a:tcPr marL="47449" marR="47449" marT="23724" marB="23724" anchor="ctr"/>
                </a:tc>
                <a:extLst>
                  <a:ext uri="{0D108BD9-81ED-4DB2-BD59-A6C34878D82A}">
                    <a16:rowId xmlns:a16="http://schemas.microsoft.com/office/drawing/2014/main" val="1081031068"/>
                  </a:ext>
                </a:extLst>
              </a:tr>
              <a:tr h="474486">
                <a:tc>
                  <a:txBody>
                    <a:bodyPr/>
                    <a:lstStyle/>
                    <a:p>
                      <a:r>
                        <a:rPr lang="en-IN" sz="1200"/>
                        <a:t>discount_percentage</a:t>
                      </a:r>
                    </a:p>
                  </a:txBody>
                  <a:tcPr marL="47449" marR="47449" marT="23724" marB="23724" anchor="ctr"/>
                </a:tc>
                <a:tc>
                  <a:txBody>
                    <a:bodyPr/>
                    <a:lstStyle/>
                    <a:p>
                      <a:r>
                        <a:rPr lang="en-IN" sz="1200"/>
                        <a:t>-1.19</a:t>
                      </a:r>
                    </a:p>
                  </a:txBody>
                  <a:tcPr marL="47449" marR="47449" marT="23724" marB="23724" anchor="ctr"/>
                </a:tc>
                <a:tc>
                  <a:txBody>
                    <a:bodyPr/>
                    <a:lstStyle/>
                    <a:p>
                      <a:r>
                        <a:rPr lang="en-US" sz="1200" dirty="0"/>
                        <a:t>Higher discounts correlate with lower prices, as expected.</a:t>
                      </a:r>
                    </a:p>
                  </a:txBody>
                  <a:tcPr marL="47449" marR="47449" marT="23724" marB="23724" anchor="ctr"/>
                </a:tc>
                <a:extLst>
                  <a:ext uri="{0D108BD9-81ED-4DB2-BD59-A6C34878D82A}">
                    <a16:rowId xmlns:a16="http://schemas.microsoft.com/office/drawing/2014/main" val="876023159"/>
                  </a:ext>
                </a:extLst>
              </a:tr>
            </a:tbl>
          </a:graphicData>
        </a:graphic>
      </p:graphicFrame>
      <p:sp>
        <p:nvSpPr>
          <p:cNvPr id="4" name="Rectangle 1">
            <a:extLst>
              <a:ext uri="{FF2B5EF4-FFF2-40B4-BE49-F238E27FC236}">
                <a16:creationId xmlns:a16="http://schemas.microsoft.com/office/drawing/2014/main" id="{E2FC0561-4DEA-A254-45A7-321E3823E1CB}"/>
              </a:ext>
            </a:extLst>
          </p:cNvPr>
          <p:cNvSpPr>
            <a:spLocks noChangeArrowheads="1"/>
          </p:cNvSpPr>
          <p:nvPr/>
        </p:nvSpPr>
        <p:spPr bwMode="auto">
          <a:xfrm>
            <a:off x="979714" y="1100465"/>
            <a:ext cx="74231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Features and Their Impact on Price: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1781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Insights from Regression Analysis</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13</a:t>
            </a:fld>
            <a:endParaRPr lang="en-US" dirty="0"/>
          </a:p>
        </p:txBody>
      </p:sp>
      <p:sp>
        <p:nvSpPr>
          <p:cNvPr id="4" name="TextBox 3">
            <a:extLst>
              <a:ext uri="{FF2B5EF4-FFF2-40B4-BE49-F238E27FC236}">
                <a16:creationId xmlns:a16="http://schemas.microsoft.com/office/drawing/2014/main" id="{9258EA57-DADD-5C79-1279-921AF699A204}"/>
              </a:ext>
            </a:extLst>
          </p:cNvPr>
          <p:cNvSpPr txBox="1"/>
          <p:nvPr/>
        </p:nvSpPr>
        <p:spPr>
          <a:xfrm>
            <a:off x="5253135" y="1570090"/>
            <a:ext cx="6102220" cy="4108176"/>
          </a:xfrm>
          <a:prstGeom prst="rect">
            <a:avLst/>
          </a:prstGeom>
          <a:noFill/>
        </p:spPr>
        <p:txBody>
          <a:bodyPr wrap="square">
            <a:spAutoFit/>
          </a:bodyPr>
          <a:lstStyle/>
          <a:p>
            <a:pPr>
              <a:lnSpc>
                <a:spcPct val="150000"/>
              </a:lnSpc>
            </a:pPr>
            <a:r>
              <a:rPr lang="en-US" sz="1600" i="1" dirty="0"/>
              <a:t>“Here’s what we can take away from the regression model:”</a:t>
            </a:r>
          </a:p>
          <a:p>
            <a:pPr marL="800100" lvl="1" indent="-342900">
              <a:lnSpc>
                <a:spcPct val="150000"/>
              </a:lnSpc>
              <a:buFont typeface="+mj-lt"/>
              <a:buAutoNum type="arabicPeriod"/>
            </a:pPr>
            <a:r>
              <a:rPr lang="en-US" sz="1600" b="1" dirty="0"/>
              <a:t>Ratings Have a Modest Positive Influence:</a:t>
            </a:r>
            <a:r>
              <a:rPr lang="en-US" sz="1600" dirty="0"/>
              <a:t> While better ratings can justify slightly higher prices, the effect is not very strong.</a:t>
            </a:r>
          </a:p>
          <a:p>
            <a:pPr marL="800100" lvl="1" indent="-342900">
              <a:lnSpc>
                <a:spcPct val="150000"/>
              </a:lnSpc>
              <a:buFont typeface="+mj-lt"/>
              <a:buAutoNum type="arabicPeriod"/>
            </a:pPr>
            <a:r>
              <a:rPr lang="en-US" sz="1600" b="1" dirty="0"/>
              <a:t>RAM and Storage Drive Price:</a:t>
            </a:r>
            <a:r>
              <a:rPr lang="en-US" sz="1600" dirty="0"/>
              <a:t> As expected, products with more RAM and storage tend to be priced higher.</a:t>
            </a:r>
          </a:p>
          <a:p>
            <a:pPr marL="800100" lvl="1" indent="-342900">
              <a:lnSpc>
                <a:spcPct val="150000"/>
              </a:lnSpc>
              <a:buFont typeface="+mj-lt"/>
              <a:buAutoNum type="arabicPeriod"/>
            </a:pPr>
            <a:r>
              <a:rPr lang="en-US" sz="1600" b="1" dirty="0"/>
              <a:t>Discounts Effectively Lower Prices:</a:t>
            </a:r>
            <a:r>
              <a:rPr lang="en-US" sz="1600" dirty="0"/>
              <a:t> The more discounts offered, the lower the final price, which indicates aggressive pricing strategies.</a:t>
            </a:r>
          </a:p>
        </p:txBody>
      </p:sp>
    </p:spTree>
    <p:extLst>
      <p:ext uri="{BB962C8B-B14F-4D97-AF65-F5344CB8AC3E}">
        <p14:creationId xmlns:p14="http://schemas.microsoft.com/office/powerpoint/2010/main" val="1274590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88723-F88E-4F02-B1A9-D1224233BEEF}"/>
              </a:ext>
            </a:extLst>
          </p:cNvPr>
          <p:cNvSpPr>
            <a:spLocks noGrp="1"/>
          </p:cNvSpPr>
          <p:nvPr>
            <p:ph type="title"/>
          </p:nvPr>
        </p:nvSpPr>
        <p:spPr/>
        <p:txBody>
          <a:bodyPr>
            <a:normAutofit/>
          </a:bodyPr>
          <a:lstStyle/>
          <a:p>
            <a:pPr>
              <a:lnSpc>
                <a:spcPct val="90000"/>
              </a:lnSpc>
            </a:pPr>
            <a:r>
              <a:rPr lang="en-IN" sz="3000" b="1" dirty="0"/>
              <a:t>Conclusion</a:t>
            </a:r>
            <a:endParaRPr lang="en-US" sz="3000" b="1" dirty="0">
              <a:solidFill>
                <a:schemeClr val="bg1"/>
              </a:solidFill>
            </a:endParaRPr>
          </a:p>
        </p:txBody>
      </p:sp>
      <p:sp>
        <p:nvSpPr>
          <p:cNvPr id="7" name="Slide Number Placeholder 6">
            <a:extLst>
              <a:ext uri="{FF2B5EF4-FFF2-40B4-BE49-F238E27FC236}">
                <a16:creationId xmlns:a16="http://schemas.microsoft.com/office/drawing/2014/main" id="{6B48CA6F-C72D-F944-B10D-0504BB669B47}"/>
              </a:ext>
            </a:extLst>
          </p:cNvPr>
          <p:cNvSpPr>
            <a:spLocks noGrp="1"/>
          </p:cNvSpPr>
          <p:nvPr>
            <p:ph type="sldNum" sz="quarter" idx="12"/>
          </p:nvPr>
        </p:nvSpPr>
        <p:spPr/>
        <p:txBody>
          <a:bodyPr/>
          <a:lstStyle/>
          <a:p>
            <a:fld id="{9FF96B15-8338-45D5-A943-561235072D66}" type="slidenum">
              <a:rPr lang="en-US" smtClean="0"/>
              <a:t>14</a:t>
            </a:fld>
            <a:endParaRPr lang="en-US" dirty="0"/>
          </a:p>
        </p:txBody>
      </p:sp>
      <p:sp>
        <p:nvSpPr>
          <p:cNvPr id="4" name="TextBox 3">
            <a:extLst>
              <a:ext uri="{FF2B5EF4-FFF2-40B4-BE49-F238E27FC236}">
                <a16:creationId xmlns:a16="http://schemas.microsoft.com/office/drawing/2014/main" id="{82004C7F-817A-7F89-DE18-CF494E577621}"/>
              </a:ext>
            </a:extLst>
          </p:cNvPr>
          <p:cNvSpPr txBox="1"/>
          <p:nvPr/>
        </p:nvSpPr>
        <p:spPr>
          <a:xfrm>
            <a:off x="5069859" y="1465421"/>
            <a:ext cx="6537424" cy="4252511"/>
          </a:xfrm>
          <a:prstGeom prst="rect">
            <a:avLst/>
          </a:prstGeom>
          <a:noFill/>
        </p:spPr>
        <p:txBody>
          <a:bodyPr wrap="square">
            <a:spAutoFit/>
          </a:bodyPr>
          <a:lstStyle/>
          <a:p>
            <a:pPr>
              <a:lnSpc>
                <a:spcPct val="150000"/>
              </a:lnSpc>
            </a:pPr>
            <a:r>
              <a:rPr lang="en-US" sz="1400" b="1" dirty="0"/>
              <a:t>Key Takeaways:</a:t>
            </a:r>
            <a:endParaRPr lang="en-US" sz="1400" dirty="0"/>
          </a:p>
          <a:p>
            <a:pPr marL="742950" lvl="1" indent="-285750">
              <a:lnSpc>
                <a:spcPct val="150000"/>
              </a:lnSpc>
              <a:buFont typeface="Arial" panose="020B0604020202020204" pitchFamily="34" charset="0"/>
              <a:buChar char="•"/>
            </a:pPr>
            <a:r>
              <a:rPr lang="en-US" sz="1400" b="1" dirty="0"/>
              <a:t>Consumer Preferences</a:t>
            </a:r>
            <a:r>
              <a:rPr lang="en-US" sz="1400" dirty="0"/>
              <a:t>: Ratings, RAM, and storage drive pricing, but higher prices don’t always mean better ratings.</a:t>
            </a:r>
          </a:p>
          <a:p>
            <a:pPr marL="742950" lvl="1" indent="-285750">
              <a:lnSpc>
                <a:spcPct val="150000"/>
              </a:lnSpc>
              <a:buFont typeface="Arial" panose="020B0604020202020204" pitchFamily="34" charset="0"/>
              <a:buChar char="•"/>
            </a:pPr>
            <a:r>
              <a:rPr lang="en-US" sz="1400" b="1" dirty="0"/>
              <a:t>Sentiment Insights</a:t>
            </a:r>
            <a:r>
              <a:rPr lang="en-US" sz="1400" dirty="0"/>
              <a:t>: Many products fall into Neutral or Negative sentiment, showing room for improvement in customer satisfaction.</a:t>
            </a:r>
          </a:p>
          <a:p>
            <a:pPr marL="742950" lvl="1" indent="-285750">
              <a:lnSpc>
                <a:spcPct val="150000"/>
              </a:lnSpc>
              <a:buFont typeface="Arial" panose="020B0604020202020204" pitchFamily="34" charset="0"/>
              <a:buChar char="•"/>
            </a:pPr>
            <a:r>
              <a:rPr lang="en-US" sz="1400" b="1" dirty="0"/>
              <a:t>Actionable Strategies</a:t>
            </a:r>
            <a:r>
              <a:rPr lang="en-US" sz="1400" dirty="0"/>
              <a:t>: Sellers can use insights to adjust pricing, highlight key features, and improve product listings.</a:t>
            </a:r>
          </a:p>
          <a:p>
            <a:pPr>
              <a:lnSpc>
                <a:spcPct val="150000"/>
              </a:lnSpc>
            </a:pPr>
            <a:r>
              <a:rPr lang="en-US" sz="1400" b="1" dirty="0"/>
              <a:t>Future Work:</a:t>
            </a:r>
            <a:endParaRPr lang="en-US" sz="1400" dirty="0"/>
          </a:p>
          <a:p>
            <a:pPr marL="742950" lvl="1" indent="-285750">
              <a:lnSpc>
                <a:spcPct val="150000"/>
              </a:lnSpc>
              <a:buFont typeface="Arial" panose="020B0604020202020204" pitchFamily="34" charset="0"/>
              <a:buChar char="•"/>
            </a:pPr>
            <a:r>
              <a:rPr lang="en-US" sz="1400" dirty="0"/>
              <a:t>Enhance analysis with text-based sentiment if customer reviews are available.</a:t>
            </a:r>
          </a:p>
          <a:p>
            <a:pPr>
              <a:lnSpc>
                <a:spcPct val="150000"/>
              </a:lnSpc>
            </a:pPr>
            <a:r>
              <a:rPr lang="en-US" sz="1400" i="1" dirty="0"/>
              <a:t>“Data-driven insights empower sellers to optimize strategies and succeed in Amazon’s competitive market.”</a:t>
            </a:r>
            <a:endParaRPr lang="en-US" sz="1400" dirty="0"/>
          </a:p>
        </p:txBody>
      </p:sp>
    </p:spTree>
    <p:extLst>
      <p:ext uri="{BB962C8B-B14F-4D97-AF65-F5344CB8AC3E}">
        <p14:creationId xmlns:p14="http://schemas.microsoft.com/office/powerpoint/2010/main" val="229676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32A28-2E2B-F516-2BF8-731ED689CED8}"/>
              </a:ext>
            </a:extLst>
          </p:cNvPr>
          <p:cNvSpPr>
            <a:spLocks noGrp="1"/>
          </p:cNvSpPr>
          <p:nvPr>
            <p:ph type="ctrTitle"/>
          </p:nvPr>
        </p:nvSpPr>
        <p:spPr>
          <a:xfrm>
            <a:off x="1163751" y="2416974"/>
            <a:ext cx="9864498" cy="1483222"/>
          </a:xfrm>
        </p:spPr>
        <p:txBody>
          <a:bodyPr/>
          <a:lstStyle/>
          <a:p>
            <a:pPr algn="ctr"/>
            <a:r>
              <a:rPr lang="en-IN" sz="6000" b="1" dirty="0"/>
              <a:t>Thank You</a:t>
            </a:r>
          </a:p>
        </p:txBody>
      </p:sp>
    </p:spTree>
    <p:extLst>
      <p:ext uri="{BB962C8B-B14F-4D97-AF65-F5344CB8AC3E}">
        <p14:creationId xmlns:p14="http://schemas.microsoft.com/office/powerpoint/2010/main" val="30223982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F66741836_Beginning of the year procedures_AAS_v5" id="{51CF042C-A21F-4772-ACB5-34142877F475}" vid="{78ABB5F0-5DDF-4844-A82C-FEADF47C5B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B9AE35-8A31-4380-94A6-86E5DFCDD123}">
  <ds:schemaRefs>
    <ds:schemaRef ds:uri="http://schemas.microsoft.com/sharepoint/v3/contenttype/forms"/>
  </ds:schemaRefs>
</ds:datastoreItem>
</file>

<file path=customXml/itemProps2.xml><?xml version="1.0" encoding="utf-8"?>
<ds:datastoreItem xmlns:ds="http://schemas.openxmlformats.org/officeDocument/2006/customXml" ds:itemID="{F983CA34-C6E2-49BA-ACFF-78ADEC0C28FA}">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70D0EAE-52CD-493E-A174-3A7CD0E9C7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Beginning of the year procedures</Template>
  <TotalTime>28</TotalTime>
  <Words>841</Words>
  <Application>Microsoft Office PowerPoint</Application>
  <PresentationFormat>Widescreen</PresentationFormat>
  <Paragraphs>87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Wingdings 3</vt:lpstr>
      <vt:lpstr>Ion Boardroom</vt:lpstr>
      <vt:lpstr>Consumer Preferences and Pricing Trends in Amazon Cell Phones Market: A Data-Driven Analysis</vt:lpstr>
      <vt:lpstr>Introduction</vt:lpstr>
      <vt:lpstr>Objectives</vt:lpstr>
      <vt:lpstr>Dataset Overview</vt:lpstr>
      <vt:lpstr>Methodology</vt:lpstr>
      <vt:lpstr>Data Cleaning &amp; Preparation</vt:lpstr>
      <vt:lpstr>PowerPoint Presentation</vt:lpstr>
      <vt:lpstr>Exploratory Data Analysis (EDA)</vt:lpstr>
      <vt:lpstr>PowerPoint Presentation</vt:lpstr>
      <vt:lpstr>Sentiment Analysis Based on Ratings</vt:lpstr>
      <vt:lpstr>Regression Analysis</vt:lpstr>
      <vt:lpstr>PowerPoint Presentation</vt:lpstr>
      <vt:lpstr>Insights from Regression Analysis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Rakesh Kunta</dc:creator>
  <cp:lastModifiedBy>Muduthanapelli Sai rohith</cp:lastModifiedBy>
  <cp:revision>2</cp:revision>
  <dcterms:created xsi:type="dcterms:W3CDTF">2024-10-24T11:33:55Z</dcterms:created>
  <dcterms:modified xsi:type="dcterms:W3CDTF">2026-05-18T00:45:03Z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